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ans: Problem and data" id="{4776abe5-6528-85c7-11c4-43f0e138c6cd}">
          <p14:sldIdLst>
            <p14:sldId id="256"/>
            <p14:sldId id="257"/>
            <p14:sldId id="258"/>
          </p14:sldIdLst>
        </p14:section>
        <p14:section name="Gerald: Algorithm and methodology" id="{11e4a640-f3cf-1f0c-a107-555b5783b484}">
          <p14:sldIdLst>
            <p14:sldId id="259"/>
            <p14:sldId id="260"/>
          </p14:sldIdLst>
        </p14:section>
        <p14:section name="Vin: Demo and results" id="{19e86018-6180-4271-36d3-626d422a60eb}">
          <p14:sldIdLst>
            <p14:sldId id="261"/>
            <p14:sldId id="262"/>
          </p14:sldIdLst>
        </p14:section>
        <p14:section name="Ira: Conclusion and references" id="{81e7ef54-a3a7-f92a-d4d2-1ced6166390b}">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F6670"/>
                </a:solidFill>
                <a:latin typeface="+mn-lt"/>
              </a:defRPr>
            </a:pPr>
            <a:r>
              <a:rPr sz="1200" b="0" i="0" u="none" strike="noStrike">
                <a:solidFill>
                  <a:srgbClr val="5F6670"/>
                </a:solidFill>
                <a:latin typeface="+mn-lt"/>
              </a:rPr>
              <a:t>Same matrix, total km (SA hit the optimum in 30/30 seeded runs)</a:t>
            </a:r>
          </a:p>
        </c:rich>
      </c:tx>
      <c:layout/>
      <c:overlay val="0"/>
    </c:title>
    <c:autoTitleDeleted val="0"/>
    <c:plotArea>
      <c:layout/>
      <c:barChart>
        <c:barDir val="bar"/>
        <c:grouping val="clustered"/>
        <c:varyColors val="0"/>
        <c:ser>
          <c:idx val="0"/>
          <c:order val="0"/>
          <c:tx>
            <c:strRef>
              <c:f>Sheet1!$B$1</c:f>
              <c:strCache>
                <c:ptCount val="1"/>
                <c:pt idx="0">
                  <c:v>Tour length (km)</c:v>
                </c:pt>
              </c:strCache>
            </c:strRef>
          </c:tx>
          <c:spPr>
            <a:solidFill>
              <a:srgbClr val="2A78D6"/>
            </a:solidFill>
            <a:effectLst/>
          </c:spPr>
          <c:invertIfNegative val="0"/>
          <c:dLbls>
            <c:numFmt formatCode="0.0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cat>
            <c:multiLvlStrRef>
              <c:f>Sheet1!$A$2:$A$6</c:f>
              <c:multiLvlStrCache>
                <c:ptCount val="5"/>
                <c:lvl>
                  <c:pt idx="0">
                    <c:v>SA (seed 1)</c:v>
                  </c:pt>
                  <c:pt idx="1">
                    <c:v>Brute-force optimum</c:v>
                  </c:pt>
                  <c:pt idx="2">
                    <c:v>Greedy nearest neighbour</c:v>
                  </c:pt>
                  <c:pt idx="3">
                    <c:v>Average random tour</c:v>
                  </c:pt>
                  <c:pt idx="4">
                    <c:v>Worst tour</c:v>
                  </c:pt>
                </c:lvl>
              </c:multiLvlStrCache>
            </c:multiLvlStrRef>
          </c:cat>
          <c:val>
            <c:numRef>
              <c:f>Sheet1!$B$2:$B$6</c:f>
              <c:numCache>
                <c:formatCode>General</c:formatCode>
                <c:ptCount val="5"/>
                <c:pt idx="0">
                  <c:v>14.1</c:v>
                </c:pt>
                <c:pt idx="1">
                  <c:v>14.1</c:v>
                </c:pt>
                <c:pt idx="2">
                  <c:v>15.37</c:v>
                </c:pt>
                <c:pt idx="3">
                  <c:v>20.79</c:v>
                </c:pt>
                <c:pt idx="4">
                  <c:v>25.52</c:v>
                </c:pt>
              </c:numCache>
            </c:numRef>
          </c:val>
        </c:ser>
        <c:dLbls>
          <c:numFmt formatCode="0.0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328"/>
                </a:solidFill>
                <a:latin typeface="+mn-lt"/>
              </a:defRPr>
            </a:pPr>
            <a:endParaRPr lang="en-US"/>
          </a:p>
        </c:txPr>
        <c:crossAx val="2094734552"/>
        <c:crosses val="autoZero"/>
        <c:auto val="1"/>
        <c:lblAlgn val="ctr"/>
        <c:noMultiLvlLbl val="1"/>
      </c:catAx>
      <c:valAx>
        <c:axId val="2094734552"/>
        <c:scaling>
          <c:orientation val="minMax"/>
          <c:max val="29"/>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Hans Matthew Del Mundo · about 0:15
Good day. We are Hans Matthew Del Mundo, Gerald Helbiro Jr., Vin Marcus Gerebise and Ira Chloie Narisma. Our assigned algorithm is Simulated Annealing, from "Performance Analysis of Classical Algorithms for the Traveling Salesman Problem" by Luna-Garcia, Candano and Caga-anan. We use it to solve a real routing problem in Cagayan de Oro City.
Fill in [Instructor] and [Date]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Hans Matthew Del Mundo · 0:15–1:45
- Scenario (illustrative but realistic): a Philippine Red Cross Misamis Oriental courier leaves the chapter office with blood units, delivers to 8 hospitals in Cagayan de Oro City, each exactly once, and returns to base. One vehicle, fixed stops, a closed tour, a total length to minimise: that is the TSP.
- Why it matters: a shorter route means blood arrives sooner and the vehicle uses less fuel.
- Locations: V0 is the Red Cross Misamis Oriental-CDO Chapter (Capitol Compound), the start and end. V1–V8 are the hospitals. Coordinates come from OpenStreetMap; every place in data/locations.csv also has its address and a Google Maps link.
- Objective: minimise total DRIVING distance in km.
- Constraints: start and end at V0, every hospital exactly once, roads only.
- Assumptions: one vehicle with no capacity limit, time at each stop ignored, fixed distances (no traffic).
- Deliberate change from the paper: the paper uses straight-line distances between (x, y) points; we use real road distances, which can differ by direction because of one-way streets.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Hans Matthew Del Mundo · 1:45–3:15
- Graph model: G = (V, A), a complete DIRECTED weighted graph. V = {V0..V8}: 9 vertices. A = every ordered pair (i, j), i ≠ j: 72 arcs, each the drive from i to j.
- Weight w(i, j) = driving distance in kilometres.
- Why directed: 29 of the 36 pairs have different distances in the two directions (one-way streets, U-turns, bridges).
- Matrix (right): row = FROM, column = TO.
- Data source: the length of the route chosen by the OSRM car router on the OpenStreetMap road network, one request per direction, obtained 2026-10-17 (18:15–18:18, Philippine time). Coordinates: OpenStreetMap (Nominatim / Overpass).
- Actual vs assumed: all 72 values are ACTUAL (data/data_sources.csv); 0 are assumed. Assumed cells would be hatched and starred in the matrix.
- Before anything runs, our validator checks: square matrix, zero diagonal, positive distances, labels match locations.csv, matrix equals data_sources.csv. It also flags 6 triangle-inequality breaks above 0.1 km, which are plausible on real one-way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Gerald Helbiro Jr. · 3:15–5:15
- Origin: annealing in metallurgy. Heat a metal, then cool it slowly so its atoms settle into a low-energy state. Metropolis et al. (1953) gave the acceptance rule; Kirkpatrick, Gelatt &amp; Vecchi (1983) made it an optimisation method; Černý (1985) applied it to the TSP.
- Analogy: state = a tour; energy = its length in km; temperature T = how willing we are to accept a longer tour; slow cooling = T ← αT.
- Procedure (Algorithm 2.5): (1) input distances; (2) random tour and its length; (3) high initial T; (4) swap two cities; (5) length of the new tour; (6–10) accept if shorter, otherwise accept with P = e^(−Δ/T); (11) cool T ← αT; (12) stop when T is low or nothing improves; (13) return the best tour found.
- The paper's code (Appendix 4.5) adds an inner loop: many moves at the same temperature, then cool. Ours does 200 moves per level.
- Advantages and limitations as on the slide.
- Optimality: SA is a heuristic. It gives an approximate solution and does not guarantee the optimum. Theorem 2.5's O(n³) relies on the authors' assumption I = O(n²); in practice I is set by the parameters (our run: 56,200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Gerald Helbiro Jr. · 5:15–6:45
- Workflow: the CSV files are validated, turned into a directed graph, solved with Simulated Annealing, then checked: the route is verified edge by edge, compared with brute force and greedy on the same matrix, and SA is repeated with 30 seeds.
- Graph representation: a 9 × 9 matrix D (row = from, column = to) plus a networkx DiGraph. A tour is a list with the depot fixed at position 0; its cost is the sum of its 9 arcs, including the return to V0.
- Parameters: T0 is calibrated to our units, so an average worse move (1.47 km) is accepted with probability 0.8 at the start. α = 0.98 was chosen with a sensitivity study (100 runs per value). We stop at T = 0.001 km or after 228 levels with no new best.
- Key calculation (from outputs/trace.csv): Move 2 makes the tour 0.24 km longer, P = 0.9643, the random number r = 0.21 is below P, so the worse tour is accepted. That is how SA escapes local optima. Move 3 is 1.73 km worse, P = 0.7697, r = 0.8933 is above P, so it is rejected.
- Why not the paper's defaults (T0 = 1000, α = 0.995, 1000 moves/level, T_stop = 1e-8)? T0 = 1000 ignores the km scale, and one run needed about 5 million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Vin Marcus Gerebise · 6:45–10:15 (screen recording of the real run)
Switch to the terminal or VS Code (font at least 18 pt).
1. Open data/locations.csv and data/distance_matrix.csv: "This is our input data exactly as collected: the locations with coordinates, and the directed distance matrix in km."
2. Type: python main.py --trace
3. Scroll slowly: validation PASS → input tables → SA parameters → the first 5 moves (current tour, swap, new tour, Δ, T, P, r, decision; the same numbers as the worked example) → SIMULATED ANNEALING RESULT → VERIFICATION → OPTIMALITY CHECK → 30 INDEPENDENT SA RUNS.
4. Open outputs/route_map.html, then outputs/fig4_convergence.png.
5. Show src/simulated_annealing.py: the inner loop proposes a swap, metropolis() applies the acceptance rule, T *= alpha cools, and every line is commented with its Algorithm 2.5 step number.
Alternative: run demo.ipynb with Kernel → Restart &amp; Run All; it calls the same functions.
Keep the result consistent with slide 6: the run must print 14.1 km with seed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Vin Marcus Gerebise · 10:15–11:30
- Result: V0 → V7 → V1 → V5 → V3 → V6 → V8 → V2 → V4 → V0, i.e. PRC → NMMC → ACE → MRXUH → PGH Velez → Madonna → JRBGH → PMP Kausw → Sabal → PRC. Total 14.1 km. The random starting tour was 16.32 km.
- Verification: the route starts and ends at the depot, has 10 entries, and visits every hospital exactly once. Re-adding the 9 edges from the graph gives 14.1 km, equal to SA's reported total.
- Optimal? SA alone cannot tell us. Brute force on the same matrix checked all 40,320 tours: the minimum is 14.1 km and the optimal tour is unique, so our route is optimal for this instance. The proof comes from the exhaustive search.
- Comparison: greedy nearest neighbour 15.37 km (+9.0%), average random tour 20.79 km, worst tour 25.52 km.
- Reliability: in 30 independent runs (paper's Table 2 format), SA reached the 14.1 km optimum 30 out of 30 times.
- Honest note: at n = 9 brute force is still cheap; SA matters as n grows (20 stops = 19! ≈ 1.2 × 10^17 tours).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Ira Chloie Narisma · 11:30–12:45
- The courier should drive PRC → NMMC → ACE → MRXUH → PGH Velez → Madonna → JRBGH → PMP Kausw → Sabal → PRC: 14.1 km. That is 6.69 km (32%) shorter than an average random order and 1.27 km (8.3%) shorter than the greedy route.
- The route makes sense on the map: it leaves the Capitol compound via NMMC next door, swings east to ACE (Lapasan) and south to Maria Reyna (Camaman-an), comes back through downtown at Polymedic on Velez Street, crosses the river to Carmen where Madonna and J.R. Borja are 1 km apart, goes north to Polymedic in Kauswagan, the most remote stop, and returns via Sabal, 0.23 km from the Red Cross office.
- Optimality: proven for this instance because brute force checked every tour. SA itself does not guarantee it.
- Limitations and improvements as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Ira Chloie Narisma · 12:45–13:15
(Ira also does the final check of the slides and submission files: video, demo.ipynb / main.py, data/*.csv, references.)
Our references: the assigned paper, whose Algorithm 2.5 and Appendix 4.5 code are the basis of our implementation; the original Simulated Annealing papers; OpenStreetMap, OSRM and Nominatim as our data sources; and the Python libraries we used. The full list with versions is in REFERENCES.md, and the dataset is in data/*.csv.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r>
              <a:rPr lang="en-US" sz="4000" b="1" dirty="0">
                <a:solidFill>
                  <a:schemeClr val="bg1"/>
                </a:solidFill>
                <a:latin typeface="Cambria" pitchFamily="34" charset="0"/>
                <a:ea typeface="Cambria" pitchFamily="34" charset="-122"/>
                <a:cs typeface="Cambria" pitchFamily="34" charset="-120"/>
              </a:rPr>
              <a:t>Title</a:t>
            </a: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188720" y="347472"/>
            <a:ext cx="10424160" cy="73152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r>
              <a:rPr lang="en-US" sz="3400" b="1" dirty="0">
                <a:solidFill>
                  <a:schemeClr val="tx1"/>
                </a:solidFill>
                <a:latin typeface="Cambria" pitchFamily="34" charset="0"/>
                <a:ea typeface="Cambria" pitchFamily="34" charset="-122"/>
                <a:cs typeface="Cambria" pitchFamily="34" charset="-120"/>
              </a:rPr>
              <a:t>Title</a:t>
            </a:r>
            <a:endParaRPr lang="en-US" sz="34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Simulated Annealing · TSP · Cagayan de Oro City</a:t>
            </a:r>
            <a:endParaRPr lang="en-US" sz="10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188720" y="347472"/>
            <a:ext cx="10424160" cy="73152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r>
              <a:rPr lang="en-US" sz="3400" b="1" dirty="0">
                <a:solidFill>
                  <a:schemeClr val="bg1"/>
                </a:solidFill>
                <a:latin typeface="Cambria" pitchFamily="34" charset="0"/>
                <a:ea typeface="Cambria" pitchFamily="34" charset="-122"/>
                <a:cs typeface="Cambria" pitchFamily="34" charset="-120"/>
              </a:rPr>
              <a:t>Title</a:t>
            </a:r>
            <a:endParaRPr lang="en-US" sz="34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C9B8BC"/>
                </a:solidFill>
              </a:rPr>
              <a:t>Simulated Annealing · TSP · Cagayan de Oro City</a:t>
            </a:r>
            <a:endParaRPr lang="en-US" sz="10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B8B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73736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Simulated Annealing for a Real-Life TSP: Blood Deliveries in Cagayan de Oro City</a:t>
            </a:r>
            <a:endParaRPr lang="en-US" sz="4000" dirty="0"/>
          </a:p>
        </p:txBody>
      </p:sp>
      <p:sp>
        <p:nvSpPr>
          <p:cNvPr id="3" name="Subtitle"/>
          <p:cNvSpPr txBox="1"/>
          <p:nvPr/>
        </p:nvSpPr>
        <p:spPr>
          <a:xfrm>
            <a:off x="548640" y="3291840"/>
            <a:ext cx="11094415" cy="457200"/>
          </a:xfrm>
          <a:prstGeom prst="rect">
            <a:avLst/>
          </a:prstGeom>
          <a:noFill/>
          <a:ln/>
        </p:spPr>
        <p:txBody>
          <a:bodyPr wrap="square" lIns="0" tIns="0" rIns="0" bIns="0" rtlCol="0" anchor="ctr"/>
          <a:lstStyle/>
          <a:p>
            <a:pPr indent="0" marL="0">
              <a:buNone/>
            </a:pPr>
            <a:r>
              <a:rPr lang="en-US" sz="1800" dirty="0">
                <a:solidFill>
                  <a:srgbClr val="E9C9CF"/>
                </a:solidFill>
              </a:rPr>
              <a:t>Assigned algorithm: Simulated Annealing (Luna-Garcia, Candano &amp; Caga-anan, 2024, Algorithm 2.5)</a:t>
            </a:r>
            <a:endParaRPr lang="en-US" sz="1800" dirty="0"/>
          </a:p>
        </p:txBody>
      </p:sp>
      <p:sp>
        <p:nvSpPr>
          <p:cNvPr id="4" name="Member badge"/>
          <p:cNvSpPr/>
          <p:nvPr/>
        </p:nvSpPr>
        <p:spPr>
          <a:xfrm>
            <a:off x="548640" y="4343400"/>
            <a:ext cx="384048" cy="384048"/>
          </a:xfrm>
          <a:prstGeom prst="ellipse">
            <a:avLst/>
          </a:prstGeom>
          <a:solidFill>
            <a:schemeClr val="accent1"/>
          </a:solidFill>
          <a:ln w="12700">
            <a:solidFill>
              <a:schemeClr val="accent1"/>
            </a:solidFill>
            <a:prstDash val="solid"/>
          </a:ln>
        </p:spPr>
      </p:sp>
      <p:sp>
        <p:nvSpPr>
          <p:cNvPr id="5" name="Member number"/>
          <p:cNvSpPr txBox="1"/>
          <p:nvPr/>
        </p:nvSpPr>
        <p:spPr>
          <a:xfrm>
            <a:off x="548640" y="4343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Member"/>
          <p:cNvSpPr txBox="1"/>
          <p:nvPr/>
        </p:nvSpPr>
        <p:spPr>
          <a:xfrm>
            <a:off x="1051560" y="4279392"/>
            <a:ext cx="2240280" cy="548640"/>
          </a:xfrm>
          <a:prstGeom prst="rect">
            <a:avLst/>
          </a:prstGeom>
          <a:noFill/>
          <a:ln/>
        </p:spPr>
        <p:txBody>
          <a:bodyPr wrap="square" lIns="0" tIns="0" rIns="0" bIns="0" rtlCol="0" anchor="ctr"/>
          <a:lstStyle/>
          <a:p>
            <a:pPr indent="0" marL="0">
              <a:buNone/>
            </a:pPr>
            <a:r>
              <a:rPr lang="en-US" sz="1400" b="1" dirty="0">
                <a:solidFill>
                  <a:schemeClr val="bg1"/>
                </a:solidFill>
              </a:rPr>
              <a:t>Hans Matthew Del Mundo</a:t>
            </a:r>
            <a:endParaRPr lang="en-US" sz="1400" dirty="0"/>
          </a:p>
          <a:p>
            <a:pPr indent="0" marL="0">
              <a:buNone/>
            </a:pPr>
            <a:r>
              <a:rPr lang="en-US" sz="1400" dirty="0">
                <a:solidFill>
                  <a:srgbClr val="C9B8BC"/>
                </a:solidFill>
              </a:rPr>
              <a:t>Slides 1–2</a:t>
            </a:r>
            <a:endParaRPr lang="en-US" sz="1400" dirty="0"/>
          </a:p>
        </p:txBody>
      </p:sp>
      <p:sp>
        <p:nvSpPr>
          <p:cNvPr id="7" name="Member badge"/>
          <p:cNvSpPr/>
          <p:nvPr/>
        </p:nvSpPr>
        <p:spPr>
          <a:xfrm>
            <a:off x="3355848" y="4343400"/>
            <a:ext cx="384048" cy="384048"/>
          </a:xfrm>
          <a:prstGeom prst="ellipse">
            <a:avLst/>
          </a:prstGeom>
          <a:solidFill>
            <a:schemeClr val="accent1"/>
          </a:solidFill>
          <a:ln w="12700">
            <a:solidFill>
              <a:schemeClr val="accent1"/>
            </a:solidFill>
            <a:prstDash val="solid"/>
          </a:ln>
        </p:spPr>
      </p:sp>
      <p:sp>
        <p:nvSpPr>
          <p:cNvPr id="8" name="Member number"/>
          <p:cNvSpPr txBox="1"/>
          <p:nvPr/>
        </p:nvSpPr>
        <p:spPr>
          <a:xfrm>
            <a:off x="3355848" y="4343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Member"/>
          <p:cNvSpPr txBox="1"/>
          <p:nvPr/>
        </p:nvSpPr>
        <p:spPr>
          <a:xfrm>
            <a:off x="3858768" y="4279392"/>
            <a:ext cx="2240280" cy="548640"/>
          </a:xfrm>
          <a:prstGeom prst="rect">
            <a:avLst/>
          </a:prstGeom>
          <a:noFill/>
          <a:ln/>
        </p:spPr>
        <p:txBody>
          <a:bodyPr wrap="square" lIns="0" tIns="0" rIns="0" bIns="0" rtlCol="0" anchor="ctr"/>
          <a:lstStyle/>
          <a:p>
            <a:pPr indent="0" marL="0">
              <a:buNone/>
            </a:pPr>
            <a:r>
              <a:rPr lang="en-US" sz="1400" b="1" dirty="0">
                <a:solidFill>
                  <a:schemeClr val="bg1"/>
                </a:solidFill>
              </a:rPr>
              <a:t>Gerald Helbiro Jr.</a:t>
            </a:r>
            <a:endParaRPr lang="en-US" sz="1400" dirty="0"/>
          </a:p>
          <a:p>
            <a:pPr indent="0" marL="0">
              <a:buNone/>
            </a:pPr>
            <a:r>
              <a:rPr lang="en-US" sz="1400" dirty="0">
                <a:solidFill>
                  <a:srgbClr val="C9B8BC"/>
                </a:solidFill>
              </a:rPr>
              <a:t>Slides 3–4</a:t>
            </a:r>
            <a:endParaRPr lang="en-US" sz="1400" dirty="0"/>
          </a:p>
        </p:txBody>
      </p:sp>
      <p:sp>
        <p:nvSpPr>
          <p:cNvPr id="10" name="Member badge"/>
          <p:cNvSpPr/>
          <p:nvPr/>
        </p:nvSpPr>
        <p:spPr>
          <a:xfrm>
            <a:off x="6163056" y="4343400"/>
            <a:ext cx="384048" cy="384048"/>
          </a:xfrm>
          <a:prstGeom prst="ellipse">
            <a:avLst/>
          </a:prstGeom>
          <a:solidFill>
            <a:schemeClr val="accent1"/>
          </a:solidFill>
          <a:ln w="12700">
            <a:solidFill>
              <a:schemeClr val="accent1"/>
            </a:solidFill>
            <a:prstDash val="solid"/>
          </a:ln>
        </p:spPr>
      </p:sp>
      <p:sp>
        <p:nvSpPr>
          <p:cNvPr id="11" name="Member number"/>
          <p:cNvSpPr txBox="1"/>
          <p:nvPr/>
        </p:nvSpPr>
        <p:spPr>
          <a:xfrm>
            <a:off x="6163056" y="4343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Member"/>
          <p:cNvSpPr txBox="1"/>
          <p:nvPr/>
        </p:nvSpPr>
        <p:spPr>
          <a:xfrm>
            <a:off x="6665976" y="4279392"/>
            <a:ext cx="2240280" cy="548640"/>
          </a:xfrm>
          <a:prstGeom prst="rect">
            <a:avLst/>
          </a:prstGeom>
          <a:noFill/>
          <a:ln/>
        </p:spPr>
        <p:txBody>
          <a:bodyPr wrap="square" lIns="0" tIns="0" rIns="0" bIns="0" rtlCol="0" anchor="ctr"/>
          <a:lstStyle/>
          <a:p>
            <a:pPr indent="0" marL="0">
              <a:buNone/>
            </a:pPr>
            <a:r>
              <a:rPr lang="en-US" sz="1400" b="1" dirty="0">
                <a:solidFill>
                  <a:schemeClr val="bg1"/>
                </a:solidFill>
              </a:rPr>
              <a:t>Vin Marcus Gerebise</a:t>
            </a:r>
            <a:endParaRPr lang="en-US" sz="1400" dirty="0"/>
          </a:p>
          <a:p>
            <a:pPr indent="0" marL="0">
              <a:buNone/>
            </a:pPr>
            <a:r>
              <a:rPr lang="en-US" sz="1400" dirty="0">
                <a:solidFill>
                  <a:srgbClr val="C9B8BC"/>
                </a:solidFill>
              </a:rPr>
              <a:t>Slides 5–6</a:t>
            </a:r>
            <a:endParaRPr lang="en-US" sz="1400" dirty="0"/>
          </a:p>
        </p:txBody>
      </p:sp>
      <p:sp>
        <p:nvSpPr>
          <p:cNvPr id="13" name="Member badge"/>
          <p:cNvSpPr/>
          <p:nvPr/>
        </p:nvSpPr>
        <p:spPr>
          <a:xfrm>
            <a:off x="8970264" y="4343400"/>
            <a:ext cx="384048" cy="384048"/>
          </a:xfrm>
          <a:prstGeom prst="ellipse">
            <a:avLst/>
          </a:prstGeom>
          <a:solidFill>
            <a:schemeClr val="accent1"/>
          </a:solidFill>
          <a:ln w="12700">
            <a:solidFill>
              <a:schemeClr val="accent1"/>
            </a:solidFill>
            <a:prstDash val="solid"/>
          </a:ln>
        </p:spPr>
      </p:sp>
      <p:sp>
        <p:nvSpPr>
          <p:cNvPr id="14" name="Member number"/>
          <p:cNvSpPr txBox="1"/>
          <p:nvPr/>
        </p:nvSpPr>
        <p:spPr>
          <a:xfrm>
            <a:off x="8970264" y="4343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Member"/>
          <p:cNvSpPr txBox="1"/>
          <p:nvPr/>
        </p:nvSpPr>
        <p:spPr>
          <a:xfrm>
            <a:off x="9473184" y="4279392"/>
            <a:ext cx="2240280" cy="548640"/>
          </a:xfrm>
          <a:prstGeom prst="rect">
            <a:avLst/>
          </a:prstGeom>
          <a:noFill/>
          <a:ln/>
        </p:spPr>
        <p:txBody>
          <a:bodyPr wrap="square" lIns="0" tIns="0" rIns="0" bIns="0" rtlCol="0" anchor="ctr"/>
          <a:lstStyle/>
          <a:p>
            <a:pPr indent="0" marL="0">
              <a:buNone/>
            </a:pPr>
            <a:r>
              <a:rPr lang="en-US" sz="1400" b="1" dirty="0">
                <a:solidFill>
                  <a:schemeClr val="bg1"/>
                </a:solidFill>
              </a:rPr>
              <a:t>Ira Chloie Narisma</a:t>
            </a:r>
            <a:endParaRPr lang="en-US" sz="1400" dirty="0"/>
          </a:p>
          <a:p>
            <a:pPr indent="0" marL="0">
              <a:buNone/>
            </a:pPr>
            <a:r>
              <a:rPr lang="en-US" sz="1400" dirty="0">
                <a:solidFill>
                  <a:srgbClr val="C9B8BC"/>
                </a:solidFill>
              </a:rPr>
              <a:t>Slides 7–8</a:t>
            </a:r>
            <a:endParaRPr lang="en-US" sz="1400" dirty="0"/>
          </a:p>
        </p:txBody>
      </p:sp>
      <p:sp>
        <p:nvSpPr>
          <p:cNvPr id="16" name="Course line"/>
          <p:cNvSpPr txBox="1"/>
          <p:nvPr/>
        </p:nvSpPr>
        <p:spPr>
          <a:xfrm>
            <a:off x="548640" y="5806440"/>
            <a:ext cx="11094415" cy="365760"/>
          </a:xfrm>
          <a:prstGeom prst="rect">
            <a:avLst/>
          </a:prstGeom>
          <a:noFill/>
          <a:ln/>
        </p:spPr>
        <p:txBody>
          <a:bodyPr wrap="square" lIns="0" tIns="0" rIns="0" bIns="0" rtlCol="0" anchor="ctr"/>
          <a:lstStyle/>
          <a:p>
            <a:pPr indent="0" marL="0">
              <a:buNone/>
            </a:pPr>
            <a:r>
              <a:rPr lang="en-US" sz="1400" dirty="0">
                <a:solidFill>
                  <a:srgbClr val="C9B8BC"/>
                </a:solidFill>
              </a:rPr>
              <a:t>Computer Science CS4A · CS414 Graph Theory · [Instructor]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1188720" y="347472"/>
            <a:ext cx="1042416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Problem &amp; Objective</a:t>
            </a:r>
            <a:endParaRPr lang="en-US" sz="3400" dirty="0"/>
          </a:p>
        </p:txBody>
      </p:sp>
      <p:sp>
        <p:nvSpPr>
          <p:cNvPr id="3" name="Section badge"/>
          <p:cNvSpPr/>
          <p:nvPr/>
        </p:nvSpPr>
        <p:spPr>
          <a:xfrm>
            <a:off x="548640" y="438912"/>
            <a:ext cx="548640" cy="548640"/>
          </a:xfrm>
          <a:prstGeom prst="ellipse">
            <a:avLst/>
          </a:prstGeom>
          <a:solidFill>
            <a:schemeClr val="accent1"/>
          </a:solidFill>
          <a:ln w="12700">
            <a:solidFill>
              <a:schemeClr val="accent1"/>
            </a:solidFill>
            <a:prstDash val="solid"/>
          </a:ln>
        </p:spPr>
      </p:sp>
      <p:sp>
        <p:nvSpPr>
          <p:cNvPr id="4" name="Section number"/>
          <p:cNvSpPr txBox="1"/>
          <p:nvPr/>
        </p:nvSpPr>
        <p:spPr>
          <a:xfrm>
            <a:off x="548640" y="438912"/>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5" name="Speaker"/>
          <p:cNvSpPr txBox="1"/>
          <p:nvPr/>
        </p:nvSpPr>
        <p:spPr>
          <a:xfrm>
            <a:off x="8412480" y="6446520"/>
            <a:ext cx="2651760" cy="274320"/>
          </a:xfrm>
          <a:prstGeom prst="rect">
            <a:avLst/>
          </a:prstGeom>
          <a:noFill/>
          <a:ln/>
        </p:spPr>
        <p:txBody>
          <a:bodyPr wrap="square" lIns="0" tIns="0" rIns="0" bIns="0" rtlCol="0" anchor="ctr"/>
          <a:lstStyle/>
          <a:p>
            <a:pPr algn="r" indent="0" marL="0">
              <a:buNone/>
            </a:pPr>
            <a:r>
              <a:rPr lang="en-US" sz="1000" dirty="0">
                <a:solidFill>
                  <a:schemeClr val="accent5"/>
                </a:solidFill>
              </a:rPr>
              <a:t>Speaker: Hans Matthew Del Mundo</a:t>
            </a:r>
            <a:endParaRPr lang="en-US" sz="1000" dirty="0"/>
          </a:p>
        </p:txBody>
      </p:sp>
      <p:pic>
        <p:nvPicPr>
          <p:cNvPr id="6" name="Map of the 9 locations in Cagayan de Oro City" descr="Map of the 9 locations in Cagayan de Oro City">    </p:cNvPr>
          <p:cNvPicPr>
            <a:picLocks noChangeAspect="1"/>
          </p:cNvPicPr>
          <p:nvPr/>
        </p:nvPicPr>
        <p:blipFill>
          <a:blip r:embed="rId1"/>
          <a:stretch>
            <a:fillRect/>
          </a:stretch>
        </p:blipFill>
        <p:spPr>
          <a:xfrm>
            <a:off x="548640" y="1280160"/>
            <a:ext cx="5120640" cy="4014216"/>
          </a:xfrm>
          <a:prstGeom prst="rect">
            <a:avLst/>
          </a:prstGeom>
        </p:spPr>
      </p:pic>
      <p:sp>
        <p:nvSpPr>
          <p:cNvPr id="7" name="Map caption"/>
          <p:cNvSpPr txBox="1"/>
          <p:nvPr/>
        </p:nvSpPr>
        <p:spPr>
          <a:xfrm>
            <a:off x="548640" y="5349240"/>
            <a:ext cx="5120640" cy="274320"/>
          </a:xfrm>
          <a:prstGeom prst="rect">
            <a:avLst/>
          </a:prstGeom>
          <a:noFill/>
          <a:ln/>
        </p:spPr>
        <p:txBody>
          <a:bodyPr wrap="square" lIns="0" tIns="0" rIns="0" bIns="0" rtlCol="0" anchor="ctr"/>
          <a:lstStyle/>
          <a:p>
            <a:pPr indent="0" marL="0">
              <a:buNone/>
            </a:pPr>
            <a:r>
              <a:rPr lang="en-US" sz="1100" dirty="0">
                <a:solidFill>
                  <a:schemeClr val="accent5"/>
                </a:solidFill>
              </a:rPr>
              <a:t>The 9 locations on OpenStreetMap (orange square = depot V0)</a:t>
            </a:r>
            <a:endParaRPr lang="en-US" sz="1100" dirty="0"/>
          </a:p>
        </p:txBody>
      </p:sp>
      <p:sp>
        <p:nvSpPr>
          <p:cNvPr id="8" name="Scenario"/>
          <p:cNvSpPr txBox="1"/>
          <p:nvPr/>
        </p:nvSpPr>
        <p:spPr>
          <a:xfrm>
            <a:off x="5989320" y="1280160"/>
            <a:ext cx="5653735" cy="777240"/>
          </a:xfrm>
          <a:prstGeom prst="rect">
            <a:avLst/>
          </a:prstGeom>
          <a:noFill/>
          <a:ln/>
        </p:spPr>
        <p:txBody>
          <a:bodyPr wrap="square" lIns="0" tIns="0" rIns="0" bIns="0" rtlCol="0" anchor="t"/>
          <a:lstStyle/>
          <a:p>
            <a:pPr indent="0" marL="0">
              <a:buNone/>
            </a:pPr>
            <a:r>
              <a:rPr lang="en-US" sz="1600" dirty="0">
                <a:solidFill>
                  <a:schemeClr val="tx1"/>
                </a:solidFill>
              </a:rPr>
              <a:t>A Philippine Red Cross courier (illustrative scenario) leaves the chapter office, delivers blood units to 8 hospitals, each exactly once, and returns.</a:t>
            </a:r>
            <a:endParaRPr lang="en-US" sz="1600" dirty="0"/>
          </a:p>
        </p:txBody>
      </p:sp>
      <p:sp>
        <p:nvSpPr>
          <p:cNvPr id="9" name="Locations card"/>
          <p:cNvSpPr/>
          <p:nvPr/>
        </p:nvSpPr>
        <p:spPr>
          <a:xfrm>
            <a:off x="5989320" y="2194560"/>
            <a:ext cx="5653735" cy="1874520"/>
          </a:xfrm>
          <a:prstGeom prst="roundRect">
            <a:avLst>
              <a:gd name="adj" fmla="val 3902"/>
            </a:avLst>
          </a:prstGeom>
          <a:solidFill>
            <a:schemeClr val="bg2"/>
          </a:solidFill>
          <a:ln w="12700">
            <a:solidFill>
              <a:schemeClr val="bg2"/>
            </a:solidFill>
            <a:prstDash val="solid"/>
          </a:ln>
        </p:spPr>
      </p:sp>
      <p:sp>
        <p:nvSpPr>
          <p:cNvPr id="10" name="Card heading: Start (depot):  V0 Red Cross CDO Chapter"/>
          <p:cNvSpPr txBox="1"/>
          <p:nvPr/>
        </p:nvSpPr>
        <p:spPr>
          <a:xfrm>
            <a:off x="6217920" y="2331720"/>
            <a:ext cx="5196535" cy="329184"/>
          </a:xfrm>
          <a:prstGeom prst="rect">
            <a:avLst/>
          </a:prstGeom>
          <a:noFill/>
          <a:ln/>
        </p:spPr>
        <p:txBody>
          <a:bodyPr wrap="square" lIns="0" tIns="0" rIns="0" bIns="0" rtlCol="0" anchor="ctr"/>
          <a:lstStyle/>
          <a:p>
            <a:pPr indent="0" marL="0">
              <a:buNone/>
            </a:pPr>
            <a:r>
              <a:rPr lang="en-US" sz="1600" b="1" dirty="0">
                <a:solidFill>
                  <a:schemeClr val="accent1"/>
                </a:solidFill>
              </a:rPr>
              <a:t>Start (depot):  V0 Red Cross CDO Chapter</a:t>
            </a:r>
            <a:endParaRPr lang="en-US" sz="1600" dirty="0"/>
          </a:p>
        </p:txBody>
      </p:sp>
      <p:sp>
        <p:nvSpPr>
          <p:cNvPr id="11" name="Hospital list"/>
          <p:cNvSpPr txBox="1"/>
          <p:nvPr/>
        </p:nvSpPr>
        <p:spPr>
          <a:xfrm>
            <a:off x="6217920" y="2743200"/>
            <a:ext cx="2606040" cy="118872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V1  ACE Medical Center</a:t>
            </a:r>
            <a:endParaRPr lang="en-US" sz="1400" dirty="0"/>
          </a:p>
          <a:p>
            <a:pPr indent="0" marL="0">
              <a:spcAft>
                <a:spcPts val="300"/>
              </a:spcAft>
              <a:buNone/>
            </a:pPr>
            <a:r>
              <a:rPr lang="en-US" sz="1400" dirty="0">
                <a:solidFill>
                  <a:schemeClr val="tx1"/>
                </a:solidFill>
              </a:rPr>
              <a:t>V2  Polymedic Med. Plaza</a:t>
            </a:r>
            <a:endParaRPr lang="en-US" sz="1400" dirty="0"/>
          </a:p>
          <a:p>
            <a:pPr indent="0" marL="0">
              <a:spcAft>
                <a:spcPts val="300"/>
              </a:spcAft>
              <a:buNone/>
            </a:pPr>
            <a:r>
              <a:rPr lang="en-US" sz="1400" dirty="0">
                <a:solidFill>
                  <a:schemeClr val="tx1"/>
                </a:solidFill>
              </a:rPr>
              <a:t>V3  Polymedic Gen. Hospital</a:t>
            </a:r>
            <a:endParaRPr lang="en-US" sz="1400" dirty="0"/>
          </a:p>
          <a:p>
            <a:pPr indent="0" marL="0">
              <a:spcAft>
                <a:spcPts val="300"/>
              </a:spcAft>
              <a:buNone/>
            </a:pPr>
            <a:r>
              <a:rPr lang="en-US" sz="1400" dirty="0">
                <a:solidFill>
                  <a:schemeClr val="tx1"/>
                </a:solidFill>
              </a:rPr>
              <a:t>V4  Sabal Hospital</a:t>
            </a:r>
            <a:endParaRPr lang="en-US" sz="1400" dirty="0"/>
          </a:p>
        </p:txBody>
      </p:sp>
      <p:sp>
        <p:nvSpPr>
          <p:cNvPr id="12" name="Hospital list"/>
          <p:cNvSpPr txBox="1"/>
          <p:nvPr/>
        </p:nvSpPr>
        <p:spPr>
          <a:xfrm>
            <a:off x="8869680" y="2743200"/>
            <a:ext cx="2606040" cy="118872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V5  Maria Reyna-XU Hospital</a:t>
            </a:r>
            <a:endParaRPr lang="en-US" sz="1400" dirty="0"/>
          </a:p>
          <a:p>
            <a:pPr indent="0" marL="0">
              <a:spcAft>
                <a:spcPts val="300"/>
              </a:spcAft>
              <a:buNone/>
            </a:pPr>
            <a:r>
              <a:rPr lang="en-US" sz="1400" dirty="0">
                <a:solidFill>
                  <a:schemeClr val="tx1"/>
                </a:solidFill>
              </a:rPr>
              <a:t>V6  Madonna and Child</a:t>
            </a:r>
            <a:endParaRPr lang="en-US" sz="1400" dirty="0"/>
          </a:p>
          <a:p>
            <a:pPr indent="0" marL="0">
              <a:spcAft>
                <a:spcPts val="300"/>
              </a:spcAft>
              <a:buNone/>
            </a:pPr>
            <a:r>
              <a:rPr lang="en-US" sz="1400" dirty="0">
                <a:solidFill>
                  <a:schemeClr val="tx1"/>
                </a:solidFill>
              </a:rPr>
              <a:t>V7  N. Mindanao Med. Center</a:t>
            </a:r>
            <a:endParaRPr lang="en-US" sz="1400" dirty="0"/>
          </a:p>
          <a:p>
            <a:pPr indent="0" marL="0">
              <a:spcAft>
                <a:spcPts val="300"/>
              </a:spcAft>
              <a:buNone/>
            </a:pPr>
            <a:r>
              <a:rPr lang="en-US" sz="1400" dirty="0">
                <a:solidFill>
                  <a:schemeClr val="tx1"/>
                </a:solidFill>
              </a:rPr>
              <a:t>V8  J.R. Borja Gen. Hospital</a:t>
            </a:r>
            <a:endParaRPr lang="en-US" sz="1400" dirty="0"/>
          </a:p>
        </p:txBody>
      </p:sp>
      <p:sp>
        <p:nvSpPr>
          <p:cNvPr id="13" name="Objective card"/>
          <p:cNvSpPr/>
          <p:nvPr/>
        </p:nvSpPr>
        <p:spPr>
          <a:xfrm>
            <a:off x="5989320" y="4206240"/>
            <a:ext cx="5653735" cy="1417320"/>
          </a:xfrm>
          <a:prstGeom prst="roundRect">
            <a:avLst>
              <a:gd name="adj" fmla="val 5161"/>
            </a:avLst>
          </a:prstGeom>
          <a:solidFill>
            <a:schemeClr val="accent1"/>
          </a:solidFill>
          <a:ln w="12700">
            <a:solidFill>
              <a:schemeClr val="accent1"/>
            </a:solidFill>
            <a:prstDash val="solid"/>
          </a:ln>
        </p:spPr>
      </p:sp>
      <p:sp>
        <p:nvSpPr>
          <p:cNvPr id="14" name="Objective"/>
          <p:cNvSpPr txBox="1"/>
          <p:nvPr/>
        </p:nvSpPr>
        <p:spPr>
          <a:xfrm>
            <a:off x="6217920" y="4315968"/>
            <a:ext cx="5196535" cy="1188720"/>
          </a:xfrm>
          <a:prstGeom prst="rect">
            <a:avLst/>
          </a:prstGeom>
          <a:noFill/>
          <a:ln/>
        </p:spPr>
        <p:txBody>
          <a:bodyPr wrap="square" lIns="0" tIns="0" rIns="0" bIns="0" rtlCol="0" anchor="ctr"/>
          <a:lstStyle/>
          <a:p>
            <a:pPr indent="0" marL="0">
              <a:buNone/>
            </a:pPr>
            <a:r>
              <a:rPr lang="en-US" sz="2000" b="1" dirty="0">
                <a:solidFill>
                  <a:schemeClr val="bg1"/>
                </a:solidFill>
              </a:rPr>
              <a:t>Objective: minimise total driving km</a:t>
            </a:r>
            <a:endParaRPr lang="en-US" sz="2000" dirty="0"/>
          </a:p>
          <a:p>
            <a:pPr indent="0" marL="0">
              <a:buNone/>
            </a:pPr>
            <a:r>
              <a:rPr lang="en-US" sz="1400" dirty="0">
                <a:solidFill>
                  <a:schemeClr val="bg1"/>
                </a:solidFill>
              </a:rPr>
              <a:t>min  d(V0,π1) + d(π1,π2) + … + d(π8,V0)  over every order π of the 8 hospitals</a:t>
            </a:r>
            <a:endParaRPr lang="en-US" sz="2000" dirty="0"/>
          </a:p>
        </p:txBody>
      </p:sp>
      <p:sp>
        <p:nvSpPr>
          <p:cNvPr id="15" name="Constraints strip"/>
          <p:cNvSpPr/>
          <p:nvPr/>
        </p:nvSpPr>
        <p:spPr>
          <a:xfrm>
            <a:off x="548640" y="5760720"/>
            <a:ext cx="5410048" cy="594360"/>
          </a:xfrm>
          <a:prstGeom prst="roundRect">
            <a:avLst>
              <a:gd name="adj" fmla="val 12308"/>
            </a:avLst>
          </a:prstGeom>
          <a:solidFill>
            <a:schemeClr val="bg2"/>
          </a:solidFill>
          <a:ln w="12700">
            <a:solidFill>
              <a:schemeClr val="bg2"/>
            </a:solidFill>
            <a:prstDash val="solid"/>
          </a:ln>
        </p:spPr>
      </p:sp>
      <p:sp>
        <p:nvSpPr>
          <p:cNvPr id="16" name="Constraints"/>
          <p:cNvSpPr txBox="1"/>
          <p:nvPr/>
        </p:nvSpPr>
        <p:spPr>
          <a:xfrm>
            <a:off x="731520" y="5760720"/>
            <a:ext cx="5044288" cy="594360"/>
          </a:xfrm>
          <a:prstGeom prst="rect">
            <a:avLst/>
          </a:prstGeom>
          <a:noFill/>
          <a:ln/>
        </p:spPr>
        <p:txBody>
          <a:bodyPr wrap="square" lIns="0" tIns="0" rIns="0" bIns="0" rtlCol="0" anchor="ctr"/>
          <a:lstStyle/>
          <a:p>
            <a:pPr indent="0" marL="0">
              <a:buNone/>
            </a:pPr>
            <a:r>
              <a:rPr lang="en-US" sz="1400" b="1" dirty="0">
                <a:solidFill>
                  <a:schemeClr val="accent1"/>
                </a:solidFill>
              </a:rPr>
              <a:t>Constraints  </a:t>
            </a:r>
            <a:pPr indent="0" marL="0">
              <a:buNone/>
            </a:pPr>
            <a:r>
              <a:rPr lang="en-US" sz="1400" dirty="0">
                <a:solidFill>
                  <a:schemeClr val="tx1"/>
                </a:solidFill>
              </a:rPr>
              <a:t>start and end at V0 · each hospital exactly once · roads only</a:t>
            </a:r>
            <a:endParaRPr lang="en-US" sz="1400" dirty="0"/>
          </a:p>
        </p:txBody>
      </p:sp>
      <p:sp>
        <p:nvSpPr>
          <p:cNvPr id="17" name="Assumptions strip"/>
          <p:cNvSpPr/>
          <p:nvPr/>
        </p:nvSpPr>
        <p:spPr>
          <a:xfrm>
            <a:off x="6233008" y="5760720"/>
            <a:ext cx="5410048" cy="594360"/>
          </a:xfrm>
          <a:prstGeom prst="roundRect">
            <a:avLst>
              <a:gd name="adj" fmla="val 12308"/>
            </a:avLst>
          </a:prstGeom>
          <a:solidFill>
            <a:schemeClr val="bg2"/>
          </a:solidFill>
          <a:ln w="12700">
            <a:solidFill>
              <a:schemeClr val="bg2"/>
            </a:solidFill>
            <a:prstDash val="solid"/>
          </a:ln>
        </p:spPr>
      </p:sp>
      <p:sp>
        <p:nvSpPr>
          <p:cNvPr id="18" name="Assumptions"/>
          <p:cNvSpPr txBox="1"/>
          <p:nvPr/>
        </p:nvSpPr>
        <p:spPr>
          <a:xfrm>
            <a:off x="6415888" y="5760720"/>
            <a:ext cx="5044288" cy="594360"/>
          </a:xfrm>
          <a:prstGeom prst="rect">
            <a:avLst/>
          </a:prstGeom>
          <a:noFill/>
          <a:ln/>
        </p:spPr>
        <p:txBody>
          <a:bodyPr wrap="square" lIns="0" tIns="0" rIns="0" bIns="0" rtlCol="0" anchor="ctr"/>
          <a:lstStyle/>
          <a:p>
            <a:pPr indent="0" marL="0">
              <a:buNone/>
            </a:pPr>
            <a:r>
              <a:rPr lang="en-US" sz="1400" b="1" dirty="0">
                <a:solidFill>
                  <a:schemeClr val="accent1"/>
                </a:solidFill>
              </a:rPr>
              <a:t>Assumptions  </a:t>
            </a:r>
            <a:pPr indent="0" marL="0">
              <a:buNone/>
            </a:pPr>
            <a:r>
              <a:rPr lang="en-US" sz="1400" dirty="0">
                <a:solidFill>
                  <a:schemeClr val="tx1"/>
                </a:solidFill>
              </a:rPr>
              <a:t>1 vehicle, no capacity limit · stop time ignored · fixed distances, no traffic</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1188720" y="347472"/>
            <a:ext cx="1042416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Graph &amp; Dataset</a:t>
            </a:r>
            <a:endParaRPr lang="en-US" sz="3400" dirty="0"/>
          </a:p>
        </p:txBody>
      </p:sp>
      <p:sp>
        <p:nvSpPr>
          <p:cNvPr id="3" name="Section badge"/>
          <p:cNvSpPr/>
          <p:nvPr/>
        </p:nvSpPr>
        <p:spPr>
          <a:xfrm>
            <a:off x="548640" y="438912"/>
            <a:ext cx="548640" cy="548640"/>
          </a:xfrm>
          <a:prstGeom prst="ellipse">
            <a:avLst/>
          </a:prstGeom>
          <a:solidFill>
            <a:schemeClr val="accent1"/>
          </a:solidFill>
          <a:ln w="12700">
            <a:solidFill>
              <a:schemeClr val="accent1"/>
            </a:solidFill>
            <a:prstDash val="solid"/>
          </a:ln>
        </p:spPr>
      </p:sp>
      <p:sp>
        <p:nvSpPr>
          <p:cNvPr id="4" name="Section number"/>
          <p:cNvSpPr txBox="1"/>
          <p:nvPr/>
        </p:nvSpPr>
        <p:spPr>
          <a:xfrm>
            <a:off x="548640" y="438912"/>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5" name="Speaker"/>
          <p:cNvSpPr txBox="1"/>
          <p:nvPr/>
        </p:nvSpPr>
        <p:spPr>
          <a:xfrm>
            <a:off x="8412480" y="6446520"/>
            <a:ext cx="2651760" cy="274320"/>
          </a:xfrm>
          <a:prstGeom prst="rect">
            <a:avLst/>
          </a:prstGeom>
          <a:noFill/>
          <a:ln/>
        </p:spPr>
        <p:txBody>
          <a:bodyPr wrap="square" lIns="0" tIns="0" rIns="0" bIns="0" rtlCol="0" anchor="ctr"/>
          <a:lstStyle/>
          <a:p>
            <a:pPr algn="r" indent="0" marL="0">
              <a:buNone/>
            </a:pPr>
            <a:r>
              <a:rPr lang="en-US" sz="1000" dirty="0">
                <a:solidFill>
                  <a:schemeClr val="accent5"/>
                </a:solidFill>
              </a:rPr>
              <a:t>Speaker: Hans Matthew Del Mundo</a:t>
            </a:r>
            <a:endParaRPr lang="en-US" sz="1000" dirty="0"/>
          </a:p>
        </p:txBody>
      </p:sp>
      <p:pic>
        <p:nvPicPr>
          <p:cNvPr id="6" name="Labelled complete directed graph of the 9 vertices" descr="Labelled complete directed graph of the 9 vertices">    </p:cNvPr>
          <p:cNvPicPr>
            <a:picLocks noChangeAspect="1"/>
          </p:cNvPicPr>
          <p:nvPr/>
        </p:nvPicPr>
        <p:blipFill>
          <a:blip r:embed="rId1"/>
          <a:stretch>
            <a:fillRect/>
          </a:stretch>
        </p:blipFill>
        <p:spPr>
          <a:xfrm>
            <a:off x="548640" y="1280160"/>
            <a:ext cx="4572000" cy="3339664"/>
          </a:xfrm>
          <a:prstGeom prst="rect">
            <a:avLst/>
          </a:prstGeom>
        </p:spPr>
      </p:pic>
      <p:graphicFrame>
        <p:nvGraphicFramePr>
          <p:cNvPr id="4" name="Weight matrix (km)"/>
          <p:cNvGraphicFramePr>
            <a:graphicFrameLocks noGrp="1"/>
          </p:cNvGraphicFramePr>
          <p:nvPr>
            <p:extLst>
              <p:ext uri="{D42A27DB-BD31-4B8C-83A1-F6EECF244321}">
                <p14:modId xmlns:p14="http://schemas.microsoft.com/office/powerpoint/2010/main" val="1579011935"/>
              </p:ext>
            </p:extLst>
          </p:nvPr>
        </p:nvGraphicFramePr>
        <p:xfrm>
          <a:off x="5440680" y="1280160"/>
          <a:ext cx="6202375" cy="914400"/>
        </p:xfrm>
        <a:graphic>
          <a:graphicData uri="http://schemas.openxmlformats.org/drawingml/2006/table">
            <a:tbl>
              <a:tblPr/>
              <a:tblGrid>
                <a:gridCol w="758952"/>
                <a:gridCol w="604825"/>
                <a:gridCol w="604825"/>
                <a:gridCol w="604825"/>
                <a:gridCol w="604825"/>
                <a:gridCol w="604825"/>
                <a:gridCol w="604825"/>
                <a:gridCol w="604825"/>
                <a:gridCol w="604825"/>
                <a:gridCol w="604825"/>
              </a:tblGrid>
              <a:tr h="329184">
                <a:tc>
                  <a:txBody>
                    <a:bodyPr/>
                    <a:lstStyle/>
                    <a:p>
                      <a:pPr algn="ctr" indent="0" marL="0">
                        <a:buNone/>
                      </a:pPr>
                      <a:r>
                        <a:rPr lang="en-US" sz="1200" b="1" dirty="0">
                          <a:solidFill>
                            <a:schemeClr val="bg1"/>
                          </a:solidFill>
                        </a:rPr>
                        <a:t>from \ to</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V0</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V1</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V2</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V3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V4</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V5</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V6</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V7</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V8</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r>
              <a:tr h="329184">
                <a:tc>
                  <a:txBody>
                    <a:bodyPr/>
                    <a:lstStyle/>
                    <a:p>
                      <a:pPr algn="ctr" indent="0" marL="0">
                        <a:buNone/>
                      </a:pPr>
                      <a:r>
                        <a:rPr lang="en-US" sz="1200" b="1" dirty="0">
                          <a:solidFill>
                            <a:schemeClr val="bg1"/>
                          </a:solidFill>
                        </a:rPr>
                        <a:t>V0</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accent5"/>
                          </a:solidFill>
                        </a:rPr>
                        <a:t>–</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1.67</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2.81</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0.60</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0.23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1.62</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2.46</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0.14</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3.23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r>
              <a:tr h="329184">
                <a:tc>
                  <a:txBody>
                    <a:bodyPr/>
                    <a:lstStyle/>
                    <a:p>
                      <a:pPr algn="ctr" indent="0" marL="0">
                        <a:buNone/>
                      </a:pPr>
                      <a:r>
                        <a:rPr lang="en-US" sz="1200" b="1" dirty="0">
                          <a:solidFill>
                            <a:schemeClr val="bg1"/>
                          </a:solidFill>
                        </a:rPr>
                        <a:t>V1</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tx1"/>
                          </a:solidFill>
                        </a:rPr>
                        <a:t>1.87</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4.22</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2.20</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1.69</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1.26</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4.06</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1.89</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4.63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r>
              <a:tr h="329184">
                <a:tc>
                  <a:txBody>
                    <a:bodyPr/>
                    <a:lstStyle/>
                    <a:p>
                      <a:pPr algn="ctr" indent="0" marL="0">
                        <a:buNone/>
                      </a:pPr>
                      <a:r>
                        <a:rPr lang="en-US" sz="1200" b="1" dirty="0">
                          <a:solidFill>
                            <a:schemeClr val="bg1"/>
                          </a:solidFill>
                        </a:rPr>
                        <a:t>V2</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tx1"/>
                          </a:solidFill>
                        </a:rPr>
                        <a:t>2.94</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4.35</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3.25</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2.74</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4.58</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3.57</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3.00</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3.71</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r>
              <a:tr h="329184">
                <a:tc>
                  <a:txBody>
                    <a:bodyPr/>
                    <a:lstStyle/>
                    <a:p>
                      <a:pPr algn="ctr" indent="0" marL="0">
                        <a:buNone/>
                      </a:pPr>
                      <a:r>
                        <a:rPr lang="en-US" sz="1200" b="1" dirty="0">
                          <a:solidFill>
                            <a:schemeClr val="bg1"/>
                          </a:solidFill>
                        </a:rPr>
                        <a:t>V3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tx1"/>
                          </a:solidFill>
                        </a:rPr>
                        <a:t>0.82</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2.36</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3.37</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0.73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1.96</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1.85</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2.37</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r>
              <a:tr h="329184">
                <a:tc>
                  <a:txBody>
                    <a:bodyPr/>
                    <a:lstStyle/>
                    <a:p>
                      <a:pPr algn="ctr" indent="0" marL="0">
                        <a:buNone/>
                      </a:pPr>
                      <a:r>
                        <a:rPr lang="en-US" sz="1200" b="1" dirty="0">
                          <a:solidFill>
                            <a:schemeClr val="bg1"/>
                          </a:solidFill>
                        </a:rPr>
                        <a:t>V4</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tx1"/>
                          </a:solidFill>
                        </a:rPr>
                        <a:t>0.23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1.68</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2.63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0.51</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1.91</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2.37</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0.29</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3.05</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r>
              <a:tr h="329184">
                <a:tc>
                  <a:txBody>
                    <a:bodyPr/>
                    <a:lstStyle/>
                    <a:p>
                      <a:pPr algn="ctr" indent="0" marL="0">
                        <a:buNone/>
                      </a:pPr>
                      <a:r>
                        <a:rPr lang="en-US" sz="1200" b="1" dirty="0">
                          <a:solidFill>
                            <a:schemeClr val="bg1"/>
                          </a:solidFill>
                        </a:rPr>
                        <a:t>V5</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tx1"/>
                          </a:solidFill>
                        </a:rPr>
                        <a:t>1.66</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1.21</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4.48</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1.63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1.95</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2.71</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1.63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3.22</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r>
              <a:tr h="329184">
                <a:tc>
                  <a:txBody>
                    <a:bodyPr/>
                    <a:lstStyle/>
                    <a:p>
                      <a:pPr algn="ctr" indent="0" marL="0">
                        <a:buNone/>
                      </a:pPr>
                      <a:r>
                        <a:rPr lang="en-US" sz="1200" b="1" dirty="0">
                          <a:solidFill>
                            <a:schemeClr val="bg1"/>
                          </a:solidFill>
                        </a:rPr>
                        <a:t>V6</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tx1"/>
                          </a:solidFill>
                        </a:rPr>
                        <a:t>2.43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4.01</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3.35</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1.85</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2.33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2.62</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2.62</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1.00</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r>
              <a:tr h="329184">
                <a:tc>
                  <a:txBody>
                    <a:bodyPr/>
                    <a:lstStyle/>
                    <a:p>
                      <a:pPr algn="ctr" indent="0" marL="0">
                        <a:buNone/>
                      </a:pPr>
                      <a:r>
                        <a:rPr lang="en-US" sz="1200" b="1" dirty="0">
                          <a:solidFill>
                            <a:schemeClr val="bg1"/>
                          </a:solidFill>
                        </a:rPr>
                        <a:t>V7</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tx1"/>
                          </a:solidFill>
                        </a:rPr>
                        <a:t>0.14</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1.62</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2.87</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0.80</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0.29</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1.62</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2.66</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3.29</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r>
              <a:tr h="329184">
                <a:tc>
                  <a:txBody>
                    <a:bodyPr/>
                    <a:lstStyle/>
                    <a:p>
                      <a:pPr algn="ctr" indent="0" marL="0">
                        <a:buNone/>
                      </a:pPr>
                      <a:r>
                        <a:rPr lang="en-US" sz="1200" b="1" dirty="0">
                          <a:solidFill>
                            <a:schemeClr val="bg1"/>
                          </a:solidFill>
                        </a:rPr>
                        <a:t>V8</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tx1"/>
                          </a:solidFill>
                        </a:rPr>
                        <a:t>3.23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4.65</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3.63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2.37</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3.03</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3.21</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1.04</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3.29</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a:t>
                      </a:r>
                      <a:endParaRPr lang="en-US" sz="1200" dirty="0"/>
                    </a:p>
                  </a:txBody>
                  <a:tcPr marL="18288" marR="18288" marT="18288" marB="18288">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bg2"/>
                    </a:solidFill>
                  </a:tcPr>
                </a:tc>
              </a:tr>
            </a:tbl>
          </a:graphicData>
        </a:graphic>
      </p:graphicFrame>
      <p:sp>
        <p:nvSpPr>
          <p:cNvPr id="8" name="Stat tile"/>
          <p:cNvSpPr/>
          <p:nvPr/>
        </p:nvSpPr>
        <p:spPr>
          <a:xfrm>
            <a:off x="548640" y="5212080"/>
            <a:ext cx="2072579" cy="1143000"/>
          </a:xfrm>
          <a:prstGeom prst="roundRect">
            <a:avLst>
              <a:gd name="adj" fmla="val 6400"/>
            </a:avLst>
          </a:prstGeom>
          <a:solidFill>
            <a:schemeClr val="bg2"/>
          </a:solidFill>
          <a:ln w="12700">
            <a:solidFill>
              <a:schemeClr val="bg2"/>
            </a:solidFill>
            <a:prstDash val="solid"/>
          </a:ln>
        </p:spPr>
      </p:sp>
      <p:sp>
        <p:nvSpPr>
          <p:cNvPr id="9" name="Stat: vertices: depot V0 + 8 hospitals"/>
          <p:cNvSpPr txBox="1"/>
          <p:nvPr/>
        </p:nvSpPr>
        <p:spPr>
          <a:xfrm>
            <a:off x="685800" y="5257800"/>
            <a:ext cx="1798259" cy="10515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9</a:t>
            </a:r>
            <a:endParaRPr lang="en-US" sz="2800" dirty="0"/>
          </a:p>
          <a:p>
            <a:pPr indent="0" marL="0">
              <a:buNone/>
            </a:pPr>
            <a:r>
              <a:rPr lang="en-US" sz="1200" dirty="0">
                <a:solidFill>
                  <a:schemeClr val="tx1"/>
                </a:solidFill>
              </a:rPr>
              <a:t>vertices: depot V0 + 8 hospitals</a:t>
            </a:r>
            <a:endParaRPr lang="en-US" sz="2800" dirty="0"/>
          </a:p>
        </p:txBody>
      </p:sp>
      <p:sp>
        <p:nvSpPr>
          <p:cNvPr id="10" name="Stat tile"/>
          <p:cNvSpPr/>
          <p:nvPr/>
        </p:nvSpPr>
        <p:spPr>
          <a:xfrm>
            <a:off x="2804099" y="5212080"/>
            <a:ext cx="2072579" cy="1143000"/>
          </a:xfrm>
          <a:prstGeom prst="roundRect">
            <a:avLst>
              <a:gd name="adj" fmla="val 6400"/>
            </a:avLst>
          </a:prstGeom>
          <a:solidFill>
            <a:schemeClr val="bg2"/>
          </a:solidFill>
          <a:ln w="12700">
            <a:solidFill>
              <a:schemeClr val="bg2"/>
            </a:solidFill>
            <a:prstDash val="solid"/>
          </a:ln>
        </p:spPr>
      </p:sp>
      <p:sp>
        <p:nvSpPr>
          <p:cNvPr id="11" name="Stat: directed arcs, every ordered pair"/>
          <p:cNvSpPr txBox="1"/>
          <p:nvPr/>
        </p:nvSpPr>
        <p:spPr>
          <a:xfrm>
            <a:off x="2941259" y="5257800"/>
            <a:ext cx="1798259" cy="10515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72</a:t>
            </a:r>
            <a:endParaRPr lang="en-US" sz="2800" dirty="0"/>
          </a:p>
          <a:p>
            <a:pPr indent="0" marL="0">
              <a:buNone/>
            </a:pPr>
            <a:r>
              <a:rPr lang="en-US" sz="1200" dirty="0">
                <a:solidFill>
                  <a:schemeClr val="tx1"/>
                </a:solidFill>
              </a:rPr>
              <a:t>directed arcs, every ordered pair</a:t>
            </a:r>
            <a:endParaRPr lang="en-US" sz="2800" dirty="0"/>
          </a:p>
        </p:txBody>
      </p:sp>
      <p:sp>
        <p:nvSpPr>
          <p:cNvPr id="12" name="Stat tile"/>
          <p:cNvSpPr/>
          <p:nvPr/>
        </p:nvSpPr>
        <p:spPr>
          <a:xfrm>
            <a:off x="5059558" y="5212080"/>
            <a:ext cx="2072579" cy="1143000"/>
          </a:xfrm>
          <a:prstGeom prst="roundRect">
            <a:avLst>
              <a:gd name="adj" fmla="val 6400"/>
            </a:avLst>
          </a:prstGeom>
          <a:solidFill>
            <a:schemeClr val="bg2"/>
          </a:solidFill>
          <a:ln w="12700">
            <a:solidFill>
              <a:schemeClr val="bg2"/>
            </a:solidFill>
            <a:prstDash val="solid"/>
          </a:ln>
        </p:spPr>
      </p:sp>
      <p:sp>
        <p:nvSpPr>
          <p:cNvPr id="13" name="Stat: edge weight = driving distance"/>
          <p:cNvSpPr txBox="1"/>
          <p:nvPr/>
        </p:nvSpPr>
        <p:spPr>
          <a:xfrm>
            <a:off x="5196718" y="5257800"/>
            <a:ext cx="1798259" cy="10515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km</a:t>
            </a:r>
            <a:endParaRPr lang="en-US" sz="2800" dirty="0"/>
          </a:p>
          <a:p>
            <a:pPr indent="0" marL="0">
              <a:buNone/>
            </a:pPr>
            <a:r>
              <a:rPr lang="en-US" sz="1200" dirty="0">
                <a:solidFill>
                  <a:schemeClr val="tx1"/>
                </a:solidFill>
              </a:rPr>
              <a:t>edge weight = driving distance</a:t>
            </a:r>
            <a:endParaRPr lang="en-US" sz="2800" dirty="0"/>
          </a:p>
        </p:txBody>
      </p:sp>
      <p:sp>
        <p:nvSpPr>
          <p:cNvPr id="14" name="Stat tile"/>
          <p:cNvSpPr/>
          <p:nvPr/>
        </p:nvSpPr>
        <p:spPr>
          <a:xfrm>
            <a:off x="7315017" y="5212080"/>
            <a:ext cx="2072579" cy="1143000"/>
          </a:xfrm>
          <a:prstGeom prst="roundRect">
            <a:avLst>
              <a:gd name="adj" fmla="val 6400"/>
            </a:avLst>
          </a:prstGeom>
          <a:solidFill>
            <a:schemeClr val="bg2"/>
          </a:solidFill>
          <a:ln w="12700">
            <a:solidFill>
              <a:schemeClr val="bg2"/>
            </a:solidFill>
            <a:prstDash val="solid"/>
          </a:ln>
        </p:spPr>
      </p:sp>
      <p:sp>
        <p:nvSpPr>
          <p:cNvPr id="15" name="Stat: pairs differ by direction"/>
          <p:cNvSpPr txBox="1"/>
          <p:nvPr/>
        </p:nvSpPr>
        <p:spPr>
          <a:xfrm>
            <a:off x="7452177" y="5257800"/>
            <a:ext cx="1798259" cy="10515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29 / 36</a:t>
            </a:r>
            <a:endParaRPr lang="en-US" sz="2800" dirty="0"/>
          </a:p>
          <a:p>
            <a:pPr indent="0" marL="0">
              <a:buNone/>
            </a:pPr>
            <a:r>
              <a:rPr lang="en-US" sz="1200" dirty="0">
                <a:solidFill>
                  <a:schemeClr val="tx1"/>
                </a:solidFill>
              </a:rPr>
              <a:t>pairs differ by direction</a:t>
            </a:r>
            <a:endParaRPr lang="en-US" sz="2800" dirty="0"/>
          </a:p>
        </p:txBody>
      </p:sp>
      <p:sp>
        <p:nvSpPr>
          <p:cNvPr id="16" name="Stat tile"/>
          <p:cNvSpPr/>
          <p:nvPr/>
        </p:nvSpPr>
        <p:spPr>
          <a:xfrm>
            <a:off x="9570476" y="5212080"/>
            <a:ext cx="2072579" cy="1143000"/>
          </a:xfrm>
          <a:prstGeom prst="roundRect">
            <a:avLst>
              <a:gd name="adj" fmla="val 6400"/>
            </a:avLst>
          </a:prstGeom>
          <a:solidFill>
            <a:schemeClr val="bg2"/>
          </a:solidFill>
          <a:ln w="12700">
            <a:solidFill>
              <a:schemeClr val="bg2"/>
            </a:solidFill>
            <a:prstDash val="solid"/>
          </a:ln>
        </p:spPr>
      </p:sp>
      <p:sp>
        <p:nvSpPr>
          <p:cNvPr id="17" name="Stat: ACTUAL values, 0 ASSUMED"/>
          <p:cNvSpPr txBox="1"/>
          <p:nvPr/>
        </p:nvSpPr>
        <p:spPr>
          <a:xfrm>
            <a:off x="9707636" y="5257800"/>
            <a:ext cx="1798259" cy="10515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72 / 72</a:t>
            </a:r>
            <a:endParaRPr lang="en-US" sz="2800" dirty="0"/>
          </a:p>
          <a:p>
            <a:pPr indent="0" marL="0">
              <a:buNone/>
            </a:pPr>
            <a:r>
              <a:rPr lang="en-US" sz="1200" dirty="0">
                <a:solidFill>
                  <a:schemeClr val="tx1"/>
                </a:solidFill>
              </a:rPr>
              <a:t>ACTUAL values, 0 ASSUMED</a:t>
            </a:r>
            <a:endParaRPr lang="en-US" sz="2800" dirty="0"/>
          </a:p>
        </p:txBody>
      </p:sp>
      <p:sp>
        <p:nvSpPr>
          <p:cNvPr id="18" name="Data source caption"/>
          <p:cNvSpPr txBox="1"/>
          <p:nvPr/>
        </p:nvSpPr>
        <p:spPr>
          <a:xfrm>
            <a:off x="548640" y="4711264"/>
            <a:ext cx="11094415" cy="274320"/>
          </a:xfrm>
          <a:prstGeom prst="rect">
            <a:avLst/>
          </a:prstGeom>
          <a:noFill/>
          <a:ln/>
        </p:spPr>
        <p:txBody>
          <a:bodyPr wrap="square" lIns="0" tIns="0" rIns="0" bIns="0" rtlCol="0" anchor="ctr"/>
          <a:lstStyle/>
          <a:p>
            <a:pPr algn="ctr" indent="0" marL="0">
              <a:buNone/>
            </a:pPr>
            <a:r>
              <a:rPr lang="en-US" sz="1100" dirty="0">
                <a:solidFill>
                  <a:schemeClr val="accent5"/>
                </a:solidFill>
              </a:rPr>
              <a:t>Weights in km, row = FROM, column = TO. Source: OSRM car router on OpenStreetMap roads, one request per direction, 2026-10-17 (data/data_sources.csv)</a:t>
            </a:r>
            <a:endParaRPr lang="en-US" sz="11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1188720" y="347472"/>
            <a:ext cx="1042416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Assigned Algorithm: Simulated Annealing</a:t>
            </a:r>
            <a:endParaRPr lang="en-US" sz="3400" dirty="0"/>
          </a:p>
        </p:txBody>
      </p:sp>
      <p:sp>
        <p:nvSpPr>
          <p:cNvPr id="3" name="Section badge"/>
          <p:cNvSpPr/>
          <p:nvPr/>
        </p:nvSpPr>
        <p:spPr>
          <a:xfrm>
            <a:off x="548640" y="438912"/>
            <a:ext cx="548640" cy="548640"/>
          </a:xfrm>
          <a:prstGeom prst="ellipse">
            <a:avLst/>
          </a:prstGeom>
          <a:solidFill>
            <a:schemeClr val="accent1"/>
          </a:solidFill>
          <a:ln w="12700">
            <a:solidFill>
              <a:schemeClr val="accent1"/>
            </a:solidFill>
            <a:prstDash val="solid"/>
          </a:ln>
        </p:spPr>
      </p:sp>
      <p:sp>
        <p:nvSpPr>
          <p:cNvPr id="4" name="Section number"/>
          <p:cNvSpPr txBox="1"/>
          <p:nvPr/>
        </p:nvSpPr>
        <p:spPr>
          <a:xfrm>
            <a:off x="548640" y="438912"/>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5" name="Speaker"/>
          <p:cNvSpPr txBox="1"/>
          <p:nvPr/>
        </p:nvSpPr>
        <p:spPr>
          <a:xfrm>
            <a:off x="8412480" y="6446520"/>
            <a:ext cx="2651760" cy="274320"/>
          </a:xfrm>
          <a:prstGeom prst="rect">
            <a:avLst/>
          </a:prstGeom>
          <a:noFill/>
          <a:ln/>
        </p:spPr>
        <p:txBody>
          <a:bodyPr wrap="square" lIns="0" tIns="0" rIns="0" bIns="0" rtlCol="0" anchor="ctr"/>
          <a:lstStyle/>
          <a:p>
            <a:pPr algn="r" indent="0" marL="0">
              <a:buNone/>
            </a:pPr>
            <a:r>
              <a:rPr lang="en-US" sz="1000" dirty="0">
                <a:solidFill>
                  <a:schemeClr val="accent5"/>
                </a:solidFill>
              </a:rPr>
              <a:t>Speaker: Gerald Helbiro Jr.</a:t>
            </a:r>
            <a:endParaRPr lang="en-US" sz="1000" dirty="0"/>
          </a:p>
        </p:txBody>
      </p:sp>
      <p:sp>
        <p:nvSpPr>
          <p:cNvPr id="6" name="Code panel"/>
          <p:cNvSpPr/>
          <p:nvPr/>
        </p:nvSpPr>
        <p:spPr>
          <a:xfrm>
            <a:off x="548640" y="1280160"/>
            <a:ext cx="5806440" cy="3429000"/>
          </a:xfrm>
          <a:prstGeom prst="roundRect">
            <a:avLst>
              <a:gd name="adj" fmla="val 2133"/>
            </a:avLst>
          </a:prstGeom>
          <a:solidFill>
            <a:schemeClr val="tx1"/>
          </a:solidFill>
          <a:ln w="12700">
            <a:solidFill>
              <a:schemeClr val="tx1"/>
            </a:solidFill>
            <a:prstDash val="solid"/>
          </a:ln>
        </p:spPr>
      </p:sp>
      <p:sp>
        <p:nvSpPr>
          <p:cNvPr id="7" name="Code"/>
          <p:cNvSpPr txBox="1"/>
          <p:nvPr/>
        </p:nvSpPr>
        <p:spPr>
          <a:xfrm>
            <a:off x="777240" y="1463040"/>
            <a:ext cx="5349240" cy="3063240"/>
          </a:xfrm>
          <a:prstGeom prst="rect">
            <a:avLst/>
          </a:prstGeom>
          <a:noFill/>
          <a:ln/>
        </p:spPr>
        <p:txBody>
          <a:bodyPr wrap="square" lIns="0" tIns="0" rIns="0" bIns="0" rtlCol="0" anchor="t"/>
          <a:lstStyle/>
          <a:p>
            <a:pPr indent="0" marL="0">
              <a:buNone/>
            </a:pPr>
            <a:r>
              <a:rPr lang="en-US" sz="1300" dirty="0">
                <a:solidFill>
                  <a:srgbClr val="E8EAED"/>
                </a:solidFill>
                <a:latin typeface="Courier New" pitchFamily="34" charset="0"/>
                <a:ea typeface="Courier New" pitchFamily="34" charset="-122"/>
                <a:cs typeface="Courier New" pitchFamily="34" charset="-120"/>
              </a:rPr>
              <a:t>current ← random tour; best ← current    # step 2</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T ← T0                                   # step 3</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while T &gt; T_stop:                        # step 12</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    repeat 200 times:                    # inner loop</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        new ← swap two cities            # step 4</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        Δ ← cost(new) − cost(current)    # step 5</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        if Δ &lt; 0 or random() &lt; e^(−Δ/T): # 6–10</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            current ← new</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            if shorter: best ← current</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    T ← α · T                            # step 11</a:t>
            </a:r>
            <a:endParaRPr lang="en-US" sz="1300" dirty="0"/>
          </a:p>
          <a:p>
            <a:pPr indent="0" marL="0">
              <a:buNone/>
            </a:pPr>
            <a:r>
              <a:rPr lang="en-US" sz="1300" dirty="0">
                <a:solidFill>
                  <a:srgbClr val="E8EAED"/>
                </a:solidFill>
                <a:latin typeface="Courier New" pitchFamily="34" charset="0"/>
                <a:ea typeface="Courier New" pitchFamily="34" charset="-122"/>
                <a:cs typeface="Courier New" pitchFamily="34" charset="-120"/>
              </a:rPr>
              <a:t>return best                              # step 13</a:t>
            </a:r>
            <a:endParaRPr lang="en-US" sz="1300" dirty="0"/>
          </a:p>
        </p:txBody>
      </p:sp>
      <p:sp>
        <p:nvSpPr>
          <p:cNvPr id="8" name="Code caption"/>
          <p:cNvSpPr txBox="1"/>
          <p:nvPr/>
        </p:nvSpPr>
        <p:spPr>
          <a:xfrm>
            <a:off x="548640" y="4754880"/>
            <a:ext cx="5806440" cy="274320"/>
          </a:xfrm>
          <a:prstGeom prst="rect">
            <a:avLst/>
          </a:prstGeom>
          <a:noFill/>
          <a:ln/>
        </p:spPr>
        <p:txBody>
          <a:bodyPr wrap="square" lIns="0" tIns="0" rIns="0" bIns="0" rtlCol="0" anchor="ctr"/>
          <a:lstStyle/>
          <a:p>
            <a:pPr indent="0" marL="0">
              <a:buNone/>
            </a:pPr>
            <a:r>
              <a:rPr lang="en-US" sz="1100" dirty="0">
                <a:solidFill>
                  <a:schemeClr val="accent5"/>
                </a:solidFill>
              </a:rPr>
              <a:t>Pseudocode of Algorithm 2.5 with the inner loop of the paper's Appendix 4.5 code</a:t>
            </a:r>
            <a:endParaRPr lang="en-US" sz="1100" dirty="0"/>
          </a:p>
        </p:txBody>
      </p:sp>
      <p:sp>
        <p:nvSpPr>
          <p:cNvPr id="9" name="Advantages card"/>
          <p:cNvSpPr/>
          <p:nvPr/>
        </p:nvSpPr>
        <p:spPr>
          <a:xfrm>
            <a:off x="6629400" y="1280160"/>
            <a:ext cx="5013655" cy="1645920"/>
          </a:xfrm>
          <a:prstGeom prst="roundRect">
            <a:avLst>
              <a:gd name="adj" fmla="val 4444"/>
            </a:avLst>
          </a:prstGeom>
          <a:solidFill>
            <a:schemeClr val="bg2"/>
          </a:solidFill>
          <a:ln w="12700">
            <a:solidFill>
              <a:schemeClr val="bg2"/>
            </a:solidFill>
            <a:prstDash val="solid"/>
          </a:ln>
        </p:spPr>
      </p:sp>
      <p:sp>
        <p:nvSpPr>
          <p:cNvPr id="10" name="Card heading: Advantages"/>
          <p:cNvSpPr txBox="1"/>
          <p:nvPr/>
        </p:nvSpPr>
        <p:spPr>
          <a:xfrm>
            <a:off x="6858000" y="1389888"/>
            <a:ext cx="4556455" cy="329184"/>
          </a:xfrm>
          <a:prstGeom prst="rect">
            <a:avLst/>
          </a:prstGeom>
          <a:noFill/>
          <a:ln/>
        </p:spPr>
        <p:txBody>
          <a:bodyPr wrap="square" lIns="0" tIns="0" rIns="0" bIns="0" rtlCol="0" anchor="ctr"/>
          <a:lstStyle/>
          <a:p>
            <a:pPr indent="0" marL="0">
              <a:buNone/>
            </a:pPr>
            <a:r>
              <a:rPr lang="en-US" sz="1600" b="1" dirty="0">
                <a:solidFill>
                  <a:schemeClr val="accent4"/>
                </a:solidFill>
              </a:rPr>
              <a:t>Advantages</a:t>
            </a:r>
            <a:endParaRPr lang="en-US" sz="1600" dirty="0"/>
          </a:p>
        </p:txBody>
      </p:sp>
      <p:sp>
        <p:nvSpPr>
          <p:cNvPr id="11" name="Bullets"/>
          <p:cNvSpPr txBox="1"/>
          <p:nvPr/>
        </p:nvSpPr>
        <p:spPr>
          <a:xfrm>
            <a:off x="6858000" y="1755648"/>
            <a:ext cx="4556455" cy="1097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Escapes local optima by sometimes accepting worse tours</a:t>
            </a:r>
            <a:endParaRPr lang="en-US" sz="1400" dirty="0"/>
          </a:p>
          <a:p>
            <a:pPr marL="342900" indent="-342900">
              <a:spcAft>
                <a:spcPts val="400"/>
              </a:spcAft>
              <a:buSzPct val="100000"/>
              <a:buChar char="•"/>
            </a:pPr>
            <a:r>
              <a:rPr lang="en-US" sz="1400" dirty="0">
                <a:solidFill>
                  <a:schemeClr val="tx1"/>
                </a:solidFill>
              </a:rPr>
              <a:t>Simple: one short loop, no problem-specific rules</a:t>
            </a:r>
            <a:endParaRPr lang="en-US" sz="1400" dirty="0"/>
          </a:p>
          <a:p>
            <a:pPr marL="342900" indent="-342900">
              <a:spcAft>
                <a:spcPts val="400"/>
              </a:spcAft>
              <a:buSzPct val="100000"/>
              <a:buChar char="•"/>
            </a:pPr>
            <a:r>
              <a:rPr lang="en-US" sz="1400" dirty="0">
                <a:solidFill>
                  <a:schemeClr val="tx1"/>
                </a:solidFill>
              </a:rPr>
              <a:t>Works on asymmetric (one-way) distances</a:t>
            </a:r>
            <a:endParaRPr lang="en-US" sz="1400" dirty="0"/>
          </a:p>
        </p:txBody>
      </p:sp>
      <p:sp>
        <p:nvSpPr>
          <p:cNvPr id="12" name="Limitations card"/>
          <p:cNvSpPr/>
          <p:nvPr/>
        </p:nvSpPr>
        <p:spPr>
          <a:xfrm>
            <a:off x="6629400" y="3063240"/>
            <a:ext cx="5013655" cy="1645920"/>
          </a:xfrm>
          <a:prstGeom prst="roundRect">
            <a:avLst>
              <a:gd name="adj" fmla="val 4444"/>
            </a:avLst>
          </a:prstGeom>
          <a:solidFill>
            <a:schemeClr val="bg2"/>
          </a:solidFill>
          <a:ln w="12700">
            <a:solidFill>
              <a:schemeClr val="bg2"/>
            </a:solidFill>
            <a:prstDash val="solid"/>
          </a:ln>
        </p:spPr>
      </p:sp>
      <p:sp>
        <p:nvSpPr>
          <p:cNvPr id="13" name="Card heading: Limitations"/>
          <p:cNvSpPr txBox="1"/>
          <p:nvPr/>
        </p:nvSpPr>
        <p:spPr>
          <a:xfrm>
            <a:off x="6858000" y="3172968"/>
            <a:ext cx="4556455" cy="329184"/>
          </a:xfrm>
          <a:prstGeom prst="rect">
            <a:avLst/>
          </a:prstGeom>
          <a:noFill/>
          <a:ln/>
        </p:spPr>
        <p:txBody>
          <a:bodyPr wrap="square" lIns="0" tIns="0" rIns="0" bIns="0" rtlCol="0" anchor="ctr"/>
          <a:lstStyle/>
          <a:p>
            <a:pPr indent="0" marL="0">
              <a:buNone/>
            </a:pPr>
            <a:r>
              <a:rPr lang="en-US" sz="1600" b="1" dirty="0">
                <a:solidFill>
                  <a:schemeClr val="accent1"/>
                </a:solidFill>
              </a:rPr>
              <a:t>Limitations</a:t>
            </a:r>
            <a:endParaRPr lang="en-US" sz="1600" dirty="0"/>
          </a:p>
        </p:txBody>
      </p:sp>
      <p:sp>
        <p:nvSpPr>
          <p:cNvPr id="14" name="Bullets"/>
          <p:cNvSpPr txBox="1"/>
          <p:nvPr/>
        </p:nvSpPr>
        <p:spPr>
          <a:xfrm>
            <a:off x="6858000" y="3538728"/>
            <a:ext cx="4556455" cy="1097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Sensitive to parameters (T0, α, moves per level, stop rule)</a:t>
            </a:r>
            <a:endParaRPr lang="en-US" sz="1400" dirty="0"/>
          </a:p>
          <a:p>
            <a:pPr marL="342900" indent="-342900">
              <a:spcAft>
                <a:spcPts val="400"/>
              </a:spcAft>
              <a:buSzPct val="100000"/>
              <a:buChar char="•"/>
            </a:pPr>
            <a:r>
              <a:rPr lang="en-US" sz="1400" dirty="0">
                <a:solidFill>
                  <a:schemeClr val="tx1"/>
                </a:solidFill>
              </a:rPr>
              <a:t>Random: different seeds can give different tours</a:t>
            </a:r>
            <a:endParaRPr lang="en-US" sz="1400" dirty="0"/>
          </a:p>
          <a:p>
            <a:pPr marL="342900" indent="-342900">
              <a:spcAft>
                <a:spcPts val="400"/>
              </a:spcAft>
              <a:buSzPct val="100000"/>
              <a:buChar char="•"/>
            </a:pPr>
            <a:r>
              <a:rPr lang="en-US" sz="1400" dirty="0">
                <a:solidFill>
                  <a:schemeClr val="tx1"/>
                </a:solidFill>
              </a:rPr>
              <a:t>No optimality guarantee in practice</a:t>
            </a:r>
            <a:endParaRPr lang="en-US" sz="1400" dirty="0"/>
          </a:p>
        </p:txBody>
      </p:sp>
      <p:sp>
        <p:nvSpPr>
          <p:cNvPr id="15" name="Optimality card"/>
          <p:cNvSpPr/>
          <p:nvPr/>
        </p:nvSpPr>
        <p:spPr>
          <a:xfrm>
            <a:off x="548640" y="5166360"/>
            <a:ext cx="11094415" cy="1188720"/>
          </a:xfrm>
          <a:prstGeom prst="roundRect">
            <a:avLst>
              <a:gd name="adj" fmla="val 6154"/>
            </a:avLst>
          </a:prstGeom>
          <a:solidFill>
            <a:schemeClr val="tx2"/>
          </a:solidFill>
          <a:ln w="12700">
            <a:solidFill>
              <a:schemeClr val="tx2"/>
            </a:solidFill>
            <a:prstDash val="solid"/>
          </a:ln>
        </p:spPr>
      </p:sp>
      <p:sp>
        <p:nvSpPr>
          <p:cNvPr id="16" name="Optimality statement"/>
          <p:cNvSpPr txBox="1"/>
          <p:nvPr/>
        </p:nvSpPr>
        <p:spPr>
          <a:xfrm>
            <a:off x="822960" y="5212080"/>
            <a:ext cx="10545775" cy="1097280"/>
          </a:xfrm>
          <a:prstGeom prst="rect">
            <a:avLst/>
          </a:prstGeom>
          <a:noFill/>
          <a:ln/>
        </p:spPr>
        <p:txBody>
          <a:bodyPr wrap="square" lIns="0" tIns="0" rIns="0" bIns="0" rtlCol="0" anchor="ctr"/>
          <a:lstStyle/>
          <a:p>
            <a:pPr indent="0" marL="0">
              <a:spcAft>
                <a:spcPts val="600"/>
              </a:spcAft>
              <a:buNone/>
            </a:pPr>
            <a:r>
              <a:rPr lang="en-US" sz="1400" b="1" dirty="0">
                <a:solidFill>
                  <a:srgbClr val="F7DDE1"/>
                </a:solidFill>
              </a:rPr>
              <a:t>Optimality: approximate (heuristic). </a:t>
            </a:r>
            <a:pPr indent="0" marL="0">
              <a:spcAft>
                <a:spcPts val="600"/>
              </a:spcAft>
              <a:buNone/>
            </a:pPr>
            <a:r>
              <a:rPr lang="en-US" sz="1400" dirty="0">
                <a:solidFill>
                  <a:schemeClr val="bg1"/>
                </a:solidFill>
              </a:rPr>
              <a:t>SA returns the best tour it found, not a proven optimum. Convergence is proven only for logarithmic cooling, far too slow to use.</a:t>
            </a:r>
            <a:endParaRPr lang="en-US" sz="1400" dirty="0"/>
          </a:p>
          <a:p>
            <a:pPr indent="0" marL="0">
              <a:spcAft>
                <a:spcPts val="600"/>
              </a:spcAft>
              <a:buNone/>
            </a:pPr>
            <a:r>
              <a:rPr lang="en-US" sz="1400" b="1" dirty="0">
                <a:solidFill>
                  <a:srgbClr val="F7DDE1"/>
                </a:solidFill>
              </a:rPr>
              <a:t>Complexity (Theorem 2.5): </a:t>
            </a:r>
            <a:pPr indent="0" marL="0">
              <a:spcAft>
                <a:spcPts val="600"/>
              </a:spcAft>
              <a:buNone/>
            </a:pPr>
            <a:r>
              <a:rPr lang="en-US" sz="1400" dirty="0">
                <a:solidFill>
                  <a:schemeClr val="bg1"/>
                </a:solidFill>
              </a:rPr>
              <a:t>each move costs O(n), so I moves cost O(I·n); with the paper's assumption I = O(n²), T(n) = O(n³).</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188720" y="347472"/>
            <a:ext cx="1042416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Methodology</a:t>
            </a:r>
            <a:endParaRPr lang="en-US" sz="3400" dirty="0"/>
          </a:p>
        </p:txBody>
      </p:sp>
      <p:sp>
        <p:nvSpPr>
          <p:cNvPr id="3" name="Section badge"/>
          <p:cNvSpPr/>
          <p:nvPr/>
        </p:nvSpPr>
        <p:spPr>
          <a:xfrm>
            <a:off x="548640" y="438912"/>
            <a:ext cx="548640" cy="548640"/>
          </a:xfrm>
          <a:prstGeom prst="ellipse">
            <a:avLst/>
          </a:prstGeom>
          <a:solidFill>
            <a:schemeClr val="accent1"/>
          </a:solidFill>
          <a:ln w="12700">
            <a:solidFill>
              <a:schemeClr val="accent1"/>
            </a:solidFill>
            <a:prstDash val="solid"/>
          </a:ln>
        </p:spPr>
      </p:sp>
      <p:sp>
        <p:nvSpPr>
          <p:cNvPr id="4" name="Section number"/>
          <p:cNvSpPr txBox="1"/>
          <p:nvPr/>
        </p:nvSpPr>
        <p:spPr>
          <a:xfrm>
            <a:off x="548640" y="438912"/>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4</a:t>
            </a:r>
            <a:endParaRPr lang="en-US" sz="2200" dirty="0"/>
          </a:p>
        </p:txBody>
      </p:sp>
      <p:sp>
        <p:nvSpPr>
          <p:cNvPr id="5" name="Speaker"/>
          <p:cNvSpPr txBox="1"/>
          <p:nvPr/>
        </p:nvSpPr>
        <p:spPr>
          <a:xfrm>
            <a:off x="8412480" y="6446520"/>
            <a:ext cx="2651760" cy="274320"/>
          </a:xfrm>
          <a:prstGeom prst="rect">
            <a:avLst/>
          </a:prstGeom>
          <a:noFill/>
          <a:ln/>
        </p:spPr>
        <p:txBody>
          <a:bodyPr wrap="square" lIns="0" tIns="0" rIns="0" bIns="0" rtlCol="0" anchor="ctr"/>
          <a:lstStyle/>
          <a:p>
            <a:pPr algn="r" indent="0" marL="0">
              <a:buNone/>
            </a:pPr>
            <a:r>
              <a:rPr lang="en-US" sz="1000" dirty="0">
                <a:solidFill>
                  <a:schemeClr val="accent5"/>
                </a:solidFill>
              </a:rPr>
              <a:t>Speaker: Gerald Helbiro Jr.</a:t>
            </a:r>
            <a:endParaRPr lang="en-US" sz="1000" dirty="0"/>
          </a:p>
        </p:txBody>
      </p:sp>
      <p:sp>
        <p:nvSpPr>
          <p:cNvPr id="6" name="Workflow step"/>
          <p:cNvSpPr/>
          <p:nvPr/>
        </p:nvSpPr>
        <p:spPr>
          <a:xfrm>
            <a:off x="548640" y="1280160"/>
            <a:ext cx="1658569" cy="1051560"/>
          </a:xfrm>
          <a:prstGeom prst="roundRect">
            <a:avLst>
              <a:gd name="adj" fmla="val 6957"/>
            </a:avLst>
          </a:prstGeom>
          <a:solidFill>
            <a:schemeClr val="bg2"/>
          </a:solidFill>
          <a:ln w="12700">
            <a:solidFill>
              <a:schemeClr val="bg2"/>
            </a:solidFill>
            <a:prstDash val="solid"/>
          </a:ln>
        </p:spPr>
      </p:sp>
      <p:sp>
        <p:nvSpPr>
          <p:cNvPr id="7" name="Workflow: CSV data"/>
          <p:cNvSpPr txBox="1"/>
          <p:nvPr/>
        </p:nvSpPr>
        <p:spPr>
          <a:xfrm>
            <a:off x="658368" y="1325880"/>
            <a:ext cx="1439113" cy="960120"/>
          </a:xfrm>
          <a:prstGeom prst="rect">
            <a:avLst/>
          </a:prstGeom>
          <a:noFill/>
          <a:ln/>
        </p:spPr>
        <p:txBody>
          <a:bodyPr wrap="square" lIns="0" tIns="0" rIns="0" bIns="0" rtlCol="0" anchor="ctr"/>
          <a:lstStyle/>
          <a:p>
            <a:pPr algn="ctr" indent="0" marL="0">
              <a:buNone/>
            </a:pPr>
            <a:r>
              <a:rPr lang="en-US" sz="1400" b="1" dirty="0">
                <a:solidFill>
                  <a:schemeClr val="tx1"/>
                </a:solidFill>
              </a:rPr>
              <a:t>CSV data</a:t>
            </a:r>
            <a:endParaRPr lang="en-US" sz="1400" dirty="0"/>
          </a:p>
          <a:p>
            <a:pPr algn="ctr" indent="0" marL="0">
              <a:buNone/>
            </a:pPr>
            <a:r>
              <a:rPr lang="en-US" sz="1100" dirty="0">
                <a:solidFill>
                  <a:schemeClr val="accent5"/>
                </a:solidFill>
              </a:rPr>
              <a:t>data/*.csv</a:t>
            </a:r>
            <a:endParaRPr lang="en-US" sz="1400" dirty="0"/>
          </a:p>
        </p:txBody>
      </p:sp>
      <p:sp>
        <p:nvSpPr>
          <p:cNvPr id="8" name="Arrow"/>
          <p:cNvSpPr/>
          <p:nvPr/>
        </p:nvSpPr>
        <p:spPr>
          <a:xfrm>
            <a:off x="2243785" y="1700784"/>
            <a:ext cx="155448" cy="219456"/>
          </a:xfrm>
          <a:prstGeom prst="rightArrow">
            <a:avLst/>
          </a:prstGeom>
          <a:solidFill>
            <a:schemeClr val="accent5"/>
          </a:solidFill>
          <a:ln w="12700">
            <a:solidFill>
              <a:schemeClr val="accent5"/>
            </a:solidFill>
            <a:prstDash val="solid"/>
          </a:ln>
        </p:spPr>
      </p:sp>
      <p:sp>
        <p:nvSpPr>
          <p:cNvPr id="9" name="Workflow step"/>
          <p:cNvSpPr/>
          <p:nvPr/>
        </p:nvSpPr>
        <p:spPr>
          <a:xfrm>
            <a:off x="2435809" y="1280160"/>
            <a:ext cx="1658569" cy="1051560"/>
          </a:xfrm>
          <a:prstGeom prst="roundRect">
            <a:avLst>
              <a:gd name="adj" fmla="val 6957"/>
            </a:avLst>
          </a:prstGeom>
          <a:solidFill>
            <a:schemeClr val="bg2"/>
          </a:solidFill>
          <a:ln w="12700">
            <a:solidFill>
              <a:schemeClr val="bg2"/>
            </a:solidFill>
            <a:prstDash val="solid"/>
          </a:ln>
        </p:spPr>
      </p:sp>
      <p:sp>
        <p:nvSpPr>
          <p:cNvPr id="10" name="Workflow: Validate"/>
          <p:cNvSpPr txBox="1"/>
          <p:nvPr/>
        </p:nvSpPr>
        <p:spPr>
          <a:xfrm>
            <a:off x="2545537" y="1325880"/>
            <a:ext cx="1439113" cy="960120"/>
          </a:xfrm>
          <a:prstGeom prst="rect">
            <a:avLst/>
          </a:prstGeom>
          <a:noFill/>
          <a:ln/>
        </p:spPr>
        <p:txBody>
          <a:bodyPr wrap="square" lIns="0" tIns="0" rIns="0" bIns="0" rtlCol="0" anchor="ctr"/>
          <a:lstStyle/>
          <a:p>
            <a:pPr algn="ctr" indent="0" marL="0">
              <a:buNone/>
            </a:pPr>
            <a:r>
              <a:rPr lang="en-US" sz="1400" b="1" dirty="0">
                <a:solidFill>
                  <a:schemeClr val="tx1"/>
                </a:solidFill>
              </a:rPr>
              <a:t>Validate</a:t>
            </a:r>
            <a:endParaRPr lang="en-US" sz="1400" dirty="0"/>
          </a:p>
          <a:p>
            <a:pPr algn="ctr" indent="0" marL="0">
              <a:buNone/>
            </a:pPr>
            <a:r>
              <a:rPr lang="en-US" sz="1100" dirty="0">
                <a:solidFill>
                  <a:schemeClr val="accent5"/>
                </a:solidFill>
              </a:rPr>
              <a:t>data_loader.py</a:t>
            </a:r>
            <a:endParaRPr lang="en-US" sz="1400" dirty="0"/>
          </a:p>
        </p:txBody>
      </p:sp>
      <p:sp>
        <p:nvSpPr>
          <p:cNvPr id="11" name="Arrow"/>
          <p:cNvSpPr/>
          <p:nvPr/>
        </p:nvSpPr>
        <p:spPr>
          <a:xfrm>
            <a:off x="4130954" y="1700784"/>
            <a:ext cx="155448" cy="219456"/>
          </a:xfrm>
          <a:prstGeom prst="rightArrow">
            <a:avLst/>
          </a:prstGeom>
          <a:solidFill>
            <a:schemeClr val="accent5"/>
          </a:solidFill>
          <a:ln w="12700">
            <a:solidFill>
              <a:schemeClr val="accent5"/>
            </a:solidFill>
            <a:prstDash val="solid"/>
          </a:ln>
        </p:spPr>
      </p:sp>
      <p:sp>
        <p:nvSpPr>
          <p:cNvPr id="12" name="Workflow step"/>
          <p:cNvSpPr/>
          <p:nvPr/>
        </p:nvSpPr>
        <p:spPr>
          <a:xfrm>
            <a:off x="4322978" y="1280160"/>
            <a:ext cx="1658569" cy="1051560"/>
          </a:xfrm>
          <a:prstGeom prst="roundRect">
            <a:avLst>
              <a:gd name="adj" fmla="val 6957"/>
            </a:avLst>
          </a:prstGeom>
          <a:solidFill>
            <a:schemeClr val="bg2"/>
          </a:solidFill>
          <a:ln w="12700">
            <a:solidFill>
              <a:schemeClr val="bg2"/>
            </a:solidFill>
            <a:prstDash val="solid"/>
          </a:ln>
        </p:spPr>
      </p:sp>
      <p:sp>
        <p:nvSpPr>
          <p:cNvPr id="13" name="Workflow: Directed graph"/>
          <p:cNvSpPr txBox="1"/>
          <p:nvPr/>
        </p:nvSpPr>
        <p:spPr>
          <a:xfrm>
            <a:off x="4432706" y="1325880"/>
            <a:ext cx="1439113" cy="960120"/>
          </a:xfrm>
          <a:prstGeom prst="rect">
            <a:avLst/>
          </a:prstGeom>
          <a:noFill/>
          <a:ln/>
        </p:spPr>
        <p:txBody>
          <a:bodyPr wrap="square" lIns="0" tIns="0" rIns="0" bIns="0" rtlCol="0" anchor="ctr"/>
          <a:lstStyle/>
          <a:p>
            <a:pPr algn="ctr" indent="0" marL="0">
              <a:buNone/>
            </a:pPr>
            <a:r>
              <a:rPr lang="en-US" sz="1400" b="1" dirty="0">
                <a:solidFill>
                  <a:schemeClr val="tx1"/>
                </a:solidFill>
              </a:rPr>
              <a:t>Directed graph</a:t>
            </a:r>
            <a:endParaRPr lang="en-US" sz="1400" dirty="0"/>
          </a:p>
          <a:p>
            <a:pPr algn="ctr" indent="0" marL="0">
              <a:buNone/>
            </a:pPr>
            <a:r>
              <a:rPr lang="en-US" sz="1100" dirty="0">
                <a:solidFill>
                  <a:schemeClr val="accent5"/>
                </a:solidFill>
              </a:rPr>
              <a:t>graph_model.py</a:t>
            </a:r>
            <a:endParaRPr lang="en-US" sz="1400" dirty="0"/>
          </a:p>
        </p:txBody>
      </p:sp>
      <p:sp>
        <p:nvSpPr>
          <p:cNvPr id="14" name="Arrow"/>
          <p:cNvSpPr/>
          <p:nvPr/>
        </p:nvSpPr>
        <p:spPr>
          <a:xfrm>
            <a:off x="6018124" y="1700784"/>
            <a:ext cx="155448" cy="219456"/>
          </a:xfrm>
          <a:prstGeom prst="rightArrow">
            <a:avLst/>
          </a:prstGeom>
          <a:solidFill>
            <a:schemeClr val="accent5"/>
          </a:solidFill>
          <a:ln w="12700">
            <a:solidFill>
              <a:schemeClr val="accent5"/>
            </a:solidFill>
            <a:prstDash val="solid"/>
          </a:ln>
        </p:spPr>
      </p:sp>
      <p:sp>
        <p:nvSpPr>
          <p:cNvPr id="15" name="Workflow step"/>
          <p:cNvSpPr/>
          <p:nvPr/>
        </p:nvSpPr>
        <p:spPr>
          <a:xfrm>
            <a:off x="6210148" y="1280160"/>
            <a:ext cx="1658569" cy="1051560"/>
          </a:xfrm>
          <a:prstGeom prst="roundRect">
            <a:avLst>
              <a:gd name="adj" fmla="val 6957"/>
            </a:avLst>
          </a:prstGeom>
          <a:solidFill>
            <a:schemeClr val="accent1"/>
          </a:solidFill>
          <a:ln w="12700">
            <a:solidFill>
              <a:schemeClr val="accent1"/>
            </a:solidFill>
            <a:prstDash val="solid"/>
          </a:ln>
        </p:spPr>
      </p:sp>
      <p:sp>
        <p:nvSpPr>
          <p:cNvPr id="16" name="Workflow: Simulated Annealing"/>
          <p:cNvSpPr txBox="1"/>
          <p:nvPr/>
        </p:nvSpPr>
        <p:spPr>
          <a:xfrm>
            <a:off x="6319876" y="1325880"/>
            <a:ext cx="1439113" cy="960120"/>
          </a:xfrm>
          <a:prstGeom prst="rect">
            <a:avLst/>
          </a:prstGeom>
          <a:noFill/>
          <a:ln/>
        </p:spPr>
        <p:txBody>
          <a:bodyPr wrap="square" lIns="0" tIns="0" rIns="0" bIns="0" rtlCol="0" anchor="ctr"/>
          <a:lstStyle/>
          <a:p>
            <a:pPr algn="ctr" indent="0" marL="0">
              <a:buNone/>
            </a:pPr>
            <a:r>
              <a:rPr lang="en-US" sz="1400" b="1" dirty="0">
                <a:solidFill>
                  <a:schemeClr val="bg1"/>
                </a:solidFill>
              </a:rPr>
              <a:t>Simulated Annealing</a:t>
            </a:r>
            <a:endParaRPr lang="en-US" sz="1400" dirty="0"/>
          </a:p>
          <a:p>
            <a:pPr algn="ctr" indent="0" marL="0">
              <a:buNone/>
            </a:pPr>
            <a:r>
              <a:rPr lang="en-US" sz="1100" dirty="0">
                <a:solidFill>
                  <a:srgbClr val="F7DDE1"/>
                </a:solidFill>
              </a:rPr>
              <a:t>simulated_annealing.py</a:t>
            </a:r>
            <a:endParaRPr lang="en-US" sz="1400" dirty="0"/>
          </a:p>
        </p:txBody>
      </p:sp>
      <p:sp>
        <p:nvSpPr>
          <p:cNvPr id="17" name="Arrow"/>
          <p:cNvSpPr/>
          <p:nvPr/>
        </p:nvSpPr>
        <p:spPr>
          <a:xfrm>
            <a:off x="7905293" y="1700784"/>
            <a:ext cx="155448" cy="219456"/>
          </a:xfrm>
          <a:prstGeom prst="rightArrow">
            <a:avLst/>
          </a:prstGeom>
          <a:solidFill>
            <a:schemeClr val="accent5"/>
          </a:solidFill>
          <a:ln w="12700">
            <a:solidFill>
              <a:schemeClr val="accent5"/>
            </a:solidFill>
            <a:prstDash val="solid"/>
          </a:ln>
        </p:spPr>
      </p:sp>
      <p:sp>
        <p:nvSpPr>
          <p:cNvPr id="18" name="Workflow step"/>
          <p:cNvSpPr/>
          <p:nvPr/>
        </p:nvSpPr>
        <p:spPr>
          <a:xfrm>
            <a:off x="8097317" y="1280160"/>
            <a:ext cx="1658569" cy="1051560"/>
          </a:xfrm>
          <a:prstGeom prst="roundRect">
            <a:avLst>
              <a:gd name="adj" fmla="val 6957"/>
            </a:avLst>
          </a:prstGeom>
          <a:solidFill>
            <a:schemeClr val="bg2"/>
          </a:solidFill>
          <a:ln w="12700">
            <a:solidFill>
              <a:schemeClr val="bg2"/>
            </a:solidFill>
            <a:prstDash val="solid"/>
          </a:ln>
        </p:spPr>
      </p:sp>
      <p:sp>
        <p:nvSpPr>
          <p:cNvPr id="19" name="Workflow: Verify route"/>
          <p:cNvSpPr txBox="1"/>
          <p:nvPr/>
        </p:nvSpPr>
        <p:spPr>
          <a:xfrm>
            <a:off x="8207045" y="1325880"/>
            <a:ext cx="1439113" cy="960120"/>
          </a:xfrm>
          <a:prstGeom prst="rect">
            <a:avLst/>
          </a:prstGeom>
          <a:noFill/>
          <a:ln/>
        </p:spPr>
        <p:txBody>
          <a:bodyPr wrap="square" lIns="0" tIns="0" rIns="0" bIns="0" rtlCol="0" anchor="ctr"/>
          <a:lstStyle/>
          <a:p>
            <a:pPr algn="ctr" indent="0" marL="0">
              <a:buNone/>
            </a:pPr>
            <a:r>
              <a:rPr lang="en-US" sz="1400" b="1" dirty="0">
                <a:solidFill>
                  <a:schemeClr val="tx1"/>
                </a:solidFill>
              </a:rPr>
              <a:t>Verify route</a:t>
            </a:r>
            <a:endParaRPr lang="en-US" sz="1400" dirty="0"/>
          </a:p>
          <a:p>
            <a:pPr algn="ctr" indent="0" marL="0">
              <a:buNone/>
            </a:pPr>
            <a:r>
              <a:rPr lang="en-US" sz="1100" dirty="0">
                <a:solidFill>
                  <a:schemeClr val="accent5"/>
                </a:solidFill>
              </a:rPr>
              <a:t>verify.py</a:t>
            </a:r>
            <a:endParaRPr lang="en-US" sz="1400" dirty="0"/>
          </a:p>
        </p:txBody>
      </p:sp>
      <p:sp>
        <p:nvSpPr>
          <p:cNvPr id="20" name="Arrow"/>
          <p:cNvSpPr/>
          <p:nvPr/>
        </p:nvSpPr>
        <p:spPr>
          <a:xfrm>
            <a:off x="9792462" y="1700784"/>
            <a:ext cx="155448" cy="219456"/>
          </a:xfrm>
          <a:prstGeom prst="rightArrow">
            <a:avLst/>
          </a:prstGeom>
          <a:solidFill>
            <a:schemeClr val="accent5"/>
          </a:solidFill>
          <a:ln w="12700">
            <a:solidFill>
              <a:schemeClr val="accent5"/>
            </a:solidFill>
            <a:prstDash val="solid"/>
          </a:ln>
        </p:spPr>
      </p:sp>
      <p:sp>
        <p:nvSpPr>
          <p:cNvPr id="21" name="Workflow step"/>
          <p:cNvSpPr/>
          <p:nvPr/>
        </p:nvSpPr>
        <p:spPr>
          <a:xfrm>
            <a:off x="9984486" y="1280160"/>
            <a:ext cx="1658569" cy="1051560"/>
          </a:xfrm>
          <a:prstGeom prst="roundRect">
            <a:avLst>
              <a:gd name="adj" fmla="val 6957"/>
            </a:avLst>
          </a:prstGeom>
          <a:solidFill>
            <a:schemeClr val="bg2"/>
          </a:solidFill>
          <a:ln w="12700">
            <a:solidFill>
              <a:schemeClr val="bg2"/>
            </a:solidFill>
            <a:prstDash val="solid"/>
          </a:ln>
        </p:spPr>
      </p:sp>
      <p:sp>
        <p:nvSpPr>
          <p:cNvPr id="22" name="Workflow: Brute force, greedy, 30 runs"/>
          <p:cNvSpPr txBox="1"/>
          <p:nvPr/>
        </p:nvSpPr>
        <p:spPr>
          <a:xfrm>
            <a:off x="10094214" y="1325880"/>
            <a:ext cx="1439113" cy="960120"/>
          </a:xfrm>
          <a:prstGeom prst="rect">
            <a:avLst/>
          </a:prstGeom>
          <a:noFill/>
          <a:ln/>
        </p:spPr>
        <p:txBody>
          <a:bodyPr wrap="square" lIns="0" tIns="0" rIns="0" bIns="0" rtlCol="0" anchor="ctr"/>
          <a:lstStyle/>
          <a:p>
            <a:pPr algn="ctr" indent="0" marL="0">
              <a:buNone/>
            </a:pPr>
            <a:r>
              <a:rPr lang="en-US" sz="1400" b="1" dirty="0">
                <a:solidFill>
                  <a:schemeClr val="tx1"/>
                </a:solidFill>
              </a:rPr>
              <a:t>Brute force, greedy, 30 runs</a:t>
            </a:r>
            <a:endParaRPr lang="en-US" sz="1400" dirty="0"/>
          </a:p>
          <a:p>
            <a:pPr algn="ctr" indent="0" marL="0">
              <a:buNone/>
            </a:pPr>
            <a:r>
              <a:rPr lang="en-US" sz="1100" dirty="0">
                <a:solidFill>
                  <a:schemeClr val="accent5"/>
                </a:solidFill>
              </a:rPr>
              <a:t>baselines.py</a:t>
            </a:r>
            <a:endParaRPr lang="en-US" sz="1400" dirty="0"/>
          </a:p>
        </p:txBody>
      </p:sp>
      <p:sp>
        <p:nvSpPr>
          <p:cNvPr id="23" name="Card heading: Parameters (src/config.py)"/>
          <p:cNvSpPr txBox="1"/>
          <p:nvPr/>
        </p:nvSpPr>
        <p:spPr>
          <a:xfrm>
            <a:off x="548640" y="2606040"/>
            <a:ext cx="5394960" cy="329184"/>
          </a:xfrm>
          <a:prstGeom prst="rect">
            <a:avLst/>
          </a:prstGeom>
          <a:noFill/>
          <a:ln/>
        </p:spPr>
        <p:txBody>
          <a:bodyPr wrap="square" lIns="0" tIns="0" rIns="0" bIns="0" rtlCol="0" anchor="ctr"/>
          <a:lstStyle/>
          <a:p>
            <a:pPr indent="0" marL="0">
              <a:buNone/>
            </a:pPr>
            <a:r>
              <a:rPr lang="en-US" sz="1600" b="1" dirty="0">
                <a:solidFill>
                  <a:schemeClr val="accent1"/>
                </a:solidFill>
              </a:rPr>
              <a:t>Parameters (src/config.py)</a:t>
            </a:r>
            <a:endParaRPr lang="en-US" sz="1600" dirty="0"/>
          </a:p>
        </p:txBody>
      </p:sp>
      <p:graphicFrame>
        <p:nvGraphicFramePr>
          <p:cNvPr id="6" name="Parameter table"/>
          <p:cNvGraphicFramePr>
            <a:graphicFrameLocks noGrp="1"/>
          </p:cNvGraphicFramePr>
          <p:nvPr>
            <p:extLst>
              <p:ext uri="{D42A27DB-BD31-4B8C-83A1-F6EECF244321}">
                <p14:modId xmlns:p14="http://schemas.microsoft.com/office/powerpoint/2010/main" val="1579011935"/>
              </p:ext>
            </p:extLst>
          </p:nvPr>
        </p:nvGraphicFramePr>
        <p:xfrm>
          <a:off x="548640" y="2971800"/>
          <a:ext cx="5577840" cy="914400"/>
        </p:xfrm>
        <a:graphic>
          <a:graphicData uri="http://schemas.openxmlformats.org/drawingml/2006/table">
            <a:tbl>
              <a:tblPr/>
              <a:tblGrid>
                <a:gridCol w="1325880"/>
                <a:gridCol w="1143000"/>
                <a:gridCol w="3108960"/>
              </a:tblGrid>
              <a:tr h="329184">
                <a:tc>
                  <a:txBody>
                    <a:bodyPr/>
                    <a:lstStyle/>
                    <a:p>
                      <a:pPr indent="0" marL="0">
                        <a:buNone/>
                      </a:pPr>
                      <a:r>
                        <a:rPr lang="en-US" sz="1300" b="1" dirty="0">
                          <a:solidFill>
                            <a:schemeClr val="bg1"/>
                          </a:solidFill>
                        </a:rPr>
                        <a:t>Parameter</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Value</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Why</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chemeClr val="tx2"/>
                    </a:solidFill>
                  </a:tcPr>
                </a:tc>
              </a:tr>
              <a:tr h="329184">
                <a:tc>
                  <a:txBody>
                    <a:bodyPr/>
                    <a:lstStyle/>
                    <a:p>
                      <a:pPr indent="0" marL="0">
                        <a:buNone/>
                      </a:pPr>
                      <a:r>
                        <a:rPr lang="en-US" sz="1300" b="1" dirty="0">
                          <a:solidFill>
                            <a:schemeClr val="tx1"/>
                          </a:solidFill>
                        </a:rPr>
                        <a:t>T0</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300" dirty="0">
                          <a:solidFill>
                            <a:schemeClr val="tx1"/>
                          </a:solidFill>
                        </a:rPr>
                        <a:t>6.61 km</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300" dirty="0">
                          <a:solidFill>
                            <a:schemeClr val="accent5"/>
                          </a:solidFill>
                        </a:rPr>
                        <a:t>avg worse move accepted w.p. 0.8</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29184">
                <a:tc>
                  <a:txBody>
                    <a:bodyPr/>
                    <a:lstStyle/>
                    <a:p>
                      <a:pPr indent="0" marL="0">
                        <a:buNone/>
                      </a:pPr>
                      <a:r>
                        <a:rPr lang="en-US" sz="1300" b="1" dirty="0">
                          <a:solidFill>
                            <a:schemeClr val="tx1"/>
                          </a:solidFill>
                        </a:rPr>
                        <a:t>α</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300" dirty="0">
                          <a:solidFill>
                            <a:schemeClr val="tx1"/>
                          </a:solidFill>
                        </a:rPr>
                        <a:t>0.98</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300" dirty="0">
                          <a:solidFill>
                            <a:schemeClr val="accent5"/>
                          </a:solidFill>
                        </a:rPr>
                        <a:t>T ← αT after each level</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29184">
                <a:tc>
                  <a:txBody>
                    <a:bodyPr/>
                    <a:lstStyle/>
                    <a:p>
                      <a:pPr indent="0" marL="0">
                        <a:buNone/>
                      </a:pPr>
                      <a:r>
                        <a:rPr lang="en-US" sz="1300" b="1" dirty="0">
                          <a:solidFill>
                            <a:schemeClr val="tx1"/>
                          </a:solidFill>
                        </a:rPr>
                        <a:t>moves / level</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300" dirty="0">
                          <a:solidFill>
                            <a:schemeClr val="tx1"/>
                          </a:solidFill>
                        </a:rPr>
                        <a:t>200</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300" dirty="0">
                          <a:solidFill>
                            <a:schemeClr val="accent5"/>
                          </a:solidFill>
                        </a:rPr>
                        <a:t>inner loop</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29184">
                <a:tc>
                  <a:txBody>
                    <a:bodyPr/>
                    <a:lstStyle/>
                    <a:p>
                      <a:pPr indent="0" marL="0">
                        <a:buNone/>
                      </a:pPr>
                      <a:r>
                        <a:rPr lang="en-US" sz="1300" b="1" dirty="0">
                          <a:solidFill>
                            <a:schemeClr val="tx1"/>
                          </a:solidFill>
                        </a:rPr>
                        <a:t>T_stop</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300" dirty="0">
                          <a:solidFill>
                            <a:schemeClr val="tx1"/>
                          </a:solidFill>
                        </a:rPr>
                        <a:t>0.001 km</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300" dirty="0">
                          <a:solidFill>
                            <a:schemeClr val="accent5"/>
                          </a:solidFill>
                        </a:rPr>
                        <a:t>stop: worse moves ~never accepted</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29184">
                <a:tc>
                  <a:txBody>
                    <a:bodyPr/>
                    <a:lstStyle/>
                    <a:p>
                      <a:pPr indent="0" marL="0">
                        <a:buNone/>
                      </a:pPr>
                      <a:r>
                        <a:rPr lang="en-US" sz="1300" b="1" dirty="0">
                          <a:solidFill>
                            <a:schemeClr val="tx1"/>
                          </a:solidFill>
                        </a:rPr>
                        <a:t>patience</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300" dirty="0">
                          <a:solidFill>
                            <a:schemeClr val="tx1"/>
                          </a:solidFill>
                        </a:rPr>
                        <a:t>228 levels</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300" dirty="0">
                          <a:solidFill>
                            <a:schemeClr val="accent5"/>
                          </a:solidFill>
                        </a:rPr>
                        <a:t>stop: no new best while T falls 100×</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29184">
                <a:tc>
                  <a:txBody>
                    <a:bodyPr/>
                    <a:lstStyle/>
                    <a:p>
                      <a:pPr indent="0" marL="0">
                        <a:buNone/>
                      </a:pPr>
                      <a:r>
                        <a:rPr lang="en-US" sz="1300" b="1" dirty="0">
                          <a:solidFill>
                            <a:schemeClr val="tx1"/>
                          </a:solidFill>
                        </a:rPr>
                        <a:t>seed</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300" dirty="0">
                          <a:solidFill>
                            <a:schemeClr val="tx1"/>
                          </a:solidFill>
                        </a:rPr>
                        <a:t>1</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300" dirty="0">
                          <a:solidFill>
                            <a:schemeClr val="accent5"/>
                          </a:solidFill>
                        </a:rPr>
                        <a:t>reproducible run</a:t>
                      </a:r>
                      <a:endParaRPr lang="en-US" sz="1300" dirty="0"/>
                    </a:p>
                  </a:txBody>
                  <a:tcPr marL="45720" marR="45720" marT="45720" marB="45720">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bl>
          </a:graphicData>
        </a:graphic>
      </p:graphicFrame>
      <p:sp>
        <p:nvSpPr>
          <p:cNvPr id="25" name="Key calculation card"/>
          <p:cNvSpPr/>
          <p:nvPr/>
        </p:nvSpPr>
        <p:spPr>
          <a:xfrm>
            <a:off x="6492240" y="2606040"/>
            <a:ext cx="5150815" cy="1783080"/>
          </a:xfrm>
          <a:prstGeom prst="roundRect">
            <a:avLst>
              <a:gd name="adj" fmla="val 4103"/>
            </a:avLst>
          </a:prstGeom>
          <a:solidFill>
            <a:schemeClr val="bg2"/>
          </a:solidFill>
          <a:ln w="12700">
            <a:solidFill>
              <a:schemeClr val="bg2"/>
            </a:solidFill>
            <a:prstDash val="solid"/>
          </a:ln>
        </p:spPr>
      </p:sp>
      <p:sp>
        <p:nvSpPr>
          <p:cNvPr id="26" name="Card heading: Key calculation from our trace (T = 6.61 km)"/>
          <p:cNvSpPr txBox="1"/>
          <p:nvPr/>
        </p:nvSpPr>
        <p:spPr>
          <a:xfrm>
            <a:off x="6720840" y="2715768"/>
            <a:ext cx="4693615" cy="329184"/>
          </a:xfrm>
          <a:prstGeom prst="rect">
            <a:avLst/>
          </a:prstGeom>
          <a:noFill/>
          <a:ln/>
        </p:spPr>
        <p:txBody>
          <a:bodyPr wrap="square" lIns="0" tIns="0" rIns="0" bIns="0" rtlCol="0" anchor="ctr"/>
          <a:lstStyle/>
          <a:p>
            <a:pPr indent="0" marL="0">
              <a:buNone/>
            </a:pPr>
            <a:r>
              <a:rPr lang="en-US" sz="1600" b="1" dirty="0">
                <a:solidFill>
                  <a:schemeClr val="accent1"/>
                </a:solidFill>
              </a:rPr>
              <a:t>Key calculation from our trace (T = 6.61 km)</a:t>
            </a:r>
            <a:endParaRPr lang="en-US" sz="1600" dirty="0"/>
          </a:p>
        </p:txBody>
      </p:sp>
      <p:sp>
        <p:nvSpPr>
          <p:cNvPr id="27" name="Worked moves"/>
          <p:cNvSpPr txBox="1"/>
          <p:nvPr/>
        </p:nvSpPr>
        <p:spPr>
          <a:xfrm>
            <a:off x="6720840" y="3063240"/>
            <a:ext cx="4693615" cy="1280160"/>
          </a:xfrm>
          <a:prstGeom prst="rect">
            <a:avLst/>
          </a:prstGeom>
          <a:noFill/>
          <a:ln/>
        </p:spPr>
        <p:txBody>
          <a:bodyPr wrap="square" lIns="0" tIns="0" rIns="0" bIns="0" rtlCol="0" anchor="t"/>
          <a:lstStyle/>
          <a:p>
            <a:pPr indent="0" marL="0">
              <a:buNone/>
            </a:pPr>
            <a:r>
              <a:rPr lang="en-US" sz="1400" b="1" dirty="0">
                <a:solidFill>
                  <a:schemeClr val="tx1"/>
                </a:solidFill>
              </a:rPr>
              <a:t>Move 2: </a:t>
            </a:r>
            <a:pPr indent="0" marL="0">
              <a:buNone/>
            </a:pPr>
            <a:r>
              <a:rPr lang="en-US" sz="1400" dirty="0">
                <a:solidFill>
                  <a:schemeClr val="tx1"/>
                </a:solidFill>
              </a:rPr>
              <a:t>Δ = 15.61 − 15.37 = +0.24 km</a:t>
            </a:r>
            <a:endParaRPr lang="en-US" sz="1400" dirty="0"/>
          </a:p>
          <a:p>
            <a:pPr indent="0" marL="0">
              <a:buNone/>
            </a:pPr>
            <a:r>
              <a:rPr lang="en-US" sz="1400" dirty="0">
                <a:solidFill>
                  <a:schemeClr val="tx1"/>
                </a:solidFill>
              </a:rPr>
              <a:t>P = e^(−0.24/6.61) = 0.9643;  r = 0.2100 &lt; P  →  </a:t>
            </a:r>
            <a:pPr indent="0" marL="0">
              <a:buNone/>
            </a:pPr>
            <a:r>
              <a:rPr lang="en-US" sz="1400" b="1" dirty="0">
                <a:solidFill>
                  <a:schemeClr val="accent4"/>
                </a:solidFill>
              </a:rPr>
              <a:t>ACCEPT</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1"/>
                </a:solidFill>
              </a:rPr>
              <a:t>Move 3: </a:t>
            </a:r>
            <a:pPr indent="0" marL="0">
              <a:buNone/>
            </a:pPr>
            <a:r>
              <a:rPr lang="en-US" sz="1400" dirty="0">
                <a:solidFill>
                  <a:schemeClr val="tx1"/>
                </a:solidFill>
              </a:rPr>
              <a:t>Δ = 17.34 − 15.61 = +1.73 km</a:t>
            </a:r>
            <a:endParaRPr lang="en-US" sz="1400" dirty="0"/>
          </a:p>
          <a:p>
            <a:pPr indent="0" marL="0">
              <a:buNone/>
            </a:pPr>
            <a:r>
              <a:rPr lang="en-US" sz="1400" dirty="0">
                <a:solidFill>
                  <a:schemeClr val="tx1"/>
                </a:solidFill>
              </a:rPr>
              <a:t>P = e^(−1.73/6.61) = 0.7697;  r = 0.8933 ≥ P  →  </a:t>
            </a:r>
            <a:pPr indent="0" marL="0">
              <a:buNone/>
            </a:pPr>
            <a:r>
              <a:rPr lang="en-US" sz="1400" b="1" dirty="0">
                <a:solidFill>
                  <a:schemeClr val="accent1"/>
                </a:solidFill>
              </a:rPr>
              <a:t>REJECT</a:t>
            </a:r>
            <a:endParaRPr lang="en-US" sz="1400" dirty="0"/>
          </a:p>
        </p:txBody>
      </p:sp>
      <p:sp>
        <p:nvSpPr>
          <p:cNvPr id="28" name="Graph representation card"/>
          <p:cNvSpPr/>
          <p:nvPr/>
        </p:nvSpPr>
        <p:spPr>
          <a:xfrm>
            <a:off x="6492240" y="4526280"/>
            <a:ext cx="5150815" cy="1234440"/>
          </a:xfrm>
          <a:prstGeom prst="roundRect">
            <a:avLst>
              <a:gd name="adj" fmla="val 5926"/>
            </a:avLst>
          </a:prstGeom>
          <a:solidFill>
            <a:schemeClr val="bg2"/>
          </a:solidFill>
          <a:ln w="12700">
            <a:solidFill>
              <a:schemeClr val="bg2"/>
            </a:solidFill>
            <a:prstDash val="solid"/>
          </a:ln>
        </p:spPr>
      </p:sp>
      <p:sp>
        <p:nvSpPr>
          <p:cNvPr id="29" name="Card heading: Graph representation in code"/>
          <p:cNvSpPr txBox="1"/>
          <p:nvPr/>
        </p:nvSpPr>
        <p:spPr>
          <a:xfrm>
            <a:off x="6720840" y="4617720"/>
            <a:ext cx="4693615" cy="329184"/>
          </a:xfrm>
          <a:prstGeom prst="rect">
            <a:avLst/>
          </a:prstGeom>
          <a:noFill/>
          <a:ln/>
        </p:spPr>
        <p:txBody>
          <a:bodyPr wrap="square" lIns="0" tIns="0" rIns="0" bIns="0" rtlCol="0" anchor="ctr"/>
          <a:lstStyle/>
          <a:p>
            <a:pPr indent="0" marL="0">
              <a:buNone/>
            </a:pPr>
            <a:r>
              <a:rPr lang="en-US" sz="1600" b="1" dirty="0">
                <a:solidFill>
                  <a:schemeClr val="accent1"/>
                </a:solidFill>
              </a:rPr>
              <a:t>Graph representation in code</a:t>
            </a:r>
            <a:endParaRPr lang="en-US" sz="1600" dirty="0"/>
          </a:p>
        </p:txBody>
      </p:sp>
      <p:sp>
        <p:nvSpPr>
          <p:cNvPr id="30" name="Graph representation"/>
          <p:cNvSpPr txBox="1"/>
          <p:nvPr/>
        </p:nvSpPr>
        <p:spPr>
          <a:xfrm>
            <a:off x="6720840" y="4956048"/>
            <a:ext cx="4693615" cy="731520"/>
          </a:xfrm>
          <a:prstGeom prst="rect">
            <a:avLst/>
          </a:prstGeom>
          <a:noFill/>
          <a:ln/>
        </p:spPr>
        <p:txBody>
          <a:bodyPr wrap="square" lIns="0" tIns="0" rIns="0" bIns="0" rtlCol="0" anchor="t"/>
          <a:lstStyle/>
          <a:p>
            <a:pPr indent="0" marL="0">
              <a:buNone/>
            </a:pPr>
            <a:r>
              <a:rPr lang="en-US" sz="1400" dirty="0">
                <a:solidFill>
                  <a:schemeClr val="tx1"/>
                </a:solidFill>
              </a:rPr>
              <a:t>9 × 9 matrix D (row = from, column = to) + networkx DiGraph. Tour = list of vertices, depot fixed first; cost = sum of its 9 arcs.</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1188720" y="347472"/>
            <a:ext cx="1042416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Python Demonstration (live)</a:t>
            </a:r>
            <a:endParaRPr lang="en-US" sz="3400" dirty="0"/>
          </a:p>
        </p:txBody>
      </p:sp>
      <p:sp>
        <p:nvSpPr>
          <p:cNvPr id="3" name="Section badge"/>
          <p:cNvSpPr/>
          <p:nvPr/>
        </p:nvSpPr>
        <p:spPr>
          <a:xfrm>
            <a:off x="548640" y="438912"/>
            <a:ext cx="548640" cy="548640"/>
          </a:xfrm>
          <a:prstGeom prst="ellipse">
            <a:avLst/>
          </a:prstGeom>
          <a:solidFill>
            <a:schemeClr val="accent1"/>
          </a:solidFill>
          <a:ln w="12700">
            <a:solidFill>
              <a:schemeClr val="accent1"/>
            </a:solidFill>
            <a:prstDash val="solid"/>
          </a:ln>
        </p:spPr>
      </p:sp>
      <p:sp>
        <p:nvSpPr>
          <p:cNvPr id="4" name="Section number"/>
          <p:cNvSpPr txBox="1"/>
          <p:nvPr/>
        </p:nvSpPr>
        <p:spPr>
          <a:xfrm>
            <a:off x="548640" y="438912"/>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5</a:t>
            </a:r>
            <a:endParaRPr lang="en-US" sz="2200" dirty="0"/>
          </a:p>
        </p:txBody>
      </p:sp>
      <p:sp>
        <p:nvSpPr>
          <p:cNvPr id="5" name="Speaker"/>
          <p:cNvSpPr txBox="1"/>
          <p:nvPr/>
        </p:nvSpPr>
        <p:spPr>
          <a:xfrm>
            <a:off x="8412480" y="6446520"/>
            <a:ext cx="2651760" cy="274320"/>
          </a:xfrm>
          <a:prstGeom prst="rect">
            <a:avLst/>
          </a:prstGeom>
          <a:noFill/>
          <a:ln/>
        </p:spPr>
        <p:txBody>
          <a:bodyPr wrap="square" lIns="0" tIns="0" rIns="0" bIns="0" rtlCol="0" anchor="ctr"/>
          <a:lstStyle/>
          <a:p>
            <a:pPr algn="r" indent="0" marL="0">
              <a:buNone/>
            </a:pPr>
            <a:r>
              <a:rPr lang="en-US" sz="1000" dirty="0">
                <a:solidFill>
                  <a:schemeClr val="accent5"/>
                </a:solidFill>
              </a:rPr>
              <a:t>Speaker: Vin Marcus Gerebise</a:t>
            </a:r>
            <a:endParaRPr lang="en-US" sz="1000" dirty="0"/>
          </a:p>
        </p:txBody>
      </p:sp>
      <p:sp>
        <p:nvSpPr>
          <p:cNvPr id="6" name="Command chip"/>
          <p:cNvSpPr/>
          <p:nvPr/>
        </p:nvSpPr>
        <p:spPr>
          <a:xfrm>
            <a:off x="548640" y="1280160"/>
            <a:ext cx="4846320" cy="685800"/>
          </a:xfrm>
          <a:prstGeom prst="roundRect">
            <a:avLst>
              <a:gd name="adj" fmla="val 10667"/>
            </a:avLst>
          </a:prstGeom>
          <a:solidFill>
            <a:schemeClr val="tx2"/>
          </a:solidFill>
          <a:ln w="12700">
            <a:solidFill>
              <a:schemeClr val="tx2"/>
            </a:solidFill>
            <a:prstDash val="solid"/>
          </a:ln>
        </p:spPr>
      </p:sp>
      <p:sp>
        <p:nvSpPr>
          <p:cNvPr id="7" name="Command"/>
          <p:cNvSpPr txBox="1"/>
          <p:nvPr/>
        </p:nvSpPr>
        <p:spPr>
          <a:xfrm>
            <a:off x="777240" y="1280160"/>
            <a:ext cx="4389120" cy="685800"/>
          </a:xfrm>
          <a:prstGeom prst="rect">
            <a:avLst/>
          </a:prstGeom>
          <a:noFill/>
          <a:ln/>
        </p:spPr>
        <p:txBody>
          <a:bodyPr wrap="square" lIns="0" tIns="0" rIns="0" bIns="0" rtlCol="0" anchor="ctr"/>
          <a:lstStyle/>
          <a:p>
            <a:pPr indent="0" marL="0">
              <a:buNone/>
            </a:pPr>
            <a:r>
              <a:rPr lang="en-US" sz="2000" b="1" dirty="0">
                <a:solidFill>
                  <a:schemeClr val="bg1"/>
                </a:solidFill>
                <a:latin typeface="Courier New" pitchFamily="34" charset="0"/>
                <a:ea typeface="Courier New" pitchFamily="34" charset="-122"/>
                <a:cs typeface="Courier New" pitchFamily="34" charset="-120"/>
              </a:rPr>
              <a:t>python main.py --trace</a:t>
            </a:r>
            <a:endParaRPr lang="en-US" sz="2000" dirty="0"/>
          </a:p>
        </p:txBody>
      </p:sp>
      <p:sp>
        <p:nvSpPr>
          <p:cNvPr id="8" name="Step badge"/>
          <p:cNvSpPr/>
          <p:nvPr/>
        </p:nvSpPr>
        <p:spPr>
          <a:xfrm>
            <a:off x="548640" y="2286000"/>
            <a:ext cx="457200" cy="457200"/>
          </a:xfrm>
          <a:prstGeom prst="ellipse">
            <a:avLst/>
          </a:prstGeom>
          <a:solidFill>
            <a:schemeClr val="accent1"/>
          </a:solidFill>
          <a:ln w="12700">
            <a:solidFill>
              <a:schemeClr val="accent1"/>
            </a:solidFill>
            <a:prstDash val="solid"/>
          </a:ln>
        </p:spPr>
      </p:sp>
      <p:sp>
        <p:nvSpPr>
          <p:cNvPr id="9" name="Step number"/>
          <p:cNvSpPr txBox="1"/>
          <p:nvPr/>
        </p:nvSpPr>
        <p:spPr>
          <a:xfrm>
            <a:off x="54864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Demo step: Show the input"/>
          <p:cNvSpPr txBox="1"/>
          <p:nvPr/>
        </p:nvSpPr>
        <p:spPr>
          <a:xfrm>
            <a:off x="1188720" y="2240280"/>
            <a:ext cx="4206240" cy="731520"/>
          </a:xfrm>
          <a:prstGeom prst="rect">
            <a:avLst/>
          </a:prstGeom>
          <a:noFill/>
          <a:ln/>
        </p:spPr>
        <p:txBody>
          <a:bodyPr wrap="square" lIns="0" tIns="0" rIns="0" bIns="0" rtlCol="0" anchor="t"/>
          <a:lstStyle/>
          <a:p>
            <a:pPr indent="0" marL="0">
              <a:buNone/>
            </a:pPr>
            <a:r>
              <a:rPr lang="en-US" sz="1600" b="1" dirty="0">
                <a:solidFill>
                  <a:schemeClr val="tx1"/>
                </a:solidFill>
              </a:rPr>
              <a:t>Show the input</a:t>
            </a:r>
            <a:endParaRPr lang="en-US" sz="1600" dirty="0"/>
          </a:p>
          <a:p>
            <a:pPr indent="0" marL="0">
              <a:buNone/>
            </a:pPr>
            <a:r>
              <a:rPr lang="en-US" sz="1300" dirty="0">
                <a:solidFill>
                  <a:schemeClr val="accent5"/>
                </a:solidFill>
              </a:rPr>
              <a:t>data/locations.csv, data/distance_matrix.csv</a:t>
            </a:r>
            <a:endParaRPr lang="en-US" sz="1600" dirty="0"/>
          </a:p>
        </p:txBody>
      </p:sp>
      <p:sp>
        <p:nvSpPr>
          <p:cNvPr id="11" name="Step badge"/>
          <p:cNvSpPr/>
          <p:nvPr/>
        </p:nvSpPr>
        <p:spPr>
          <a:xfrm>
            <a:off x="548640" y="3200400"/>
            <a:ext cx="457200" cy="457200"/>
          </a:xfrm>
          <a:prstGeom prst="ellipse">
            <a:avLst/>
          </a:prstGeom>
          <a:solidFill>
            <a:schemeClr val="accent1"/>
          </a:solidFill>
          <a:ln w="12700">
            <a:solidFill>
              <a:schemeClr val="accent1"/>
            </a:solidFill>
            <a:prstDash val="solid"/>
          </a:ln>
        </p:spPr>
      </p:sp>
      <p:sp>
        <p:nvSpPr>
          <p:cNvPr id="12" name="Step number"/>
          <p:cNvSpPr txBox="1"/>
          <p:nvPr/>
        </p:nvSpPr>
        <p:spPr>
          <a:xfrm>
            <a:off x="548640" y="3200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Demo step: Run the code"/>
          <p:cNvSpPr txBox="1"/>
          <p:nvPr/>
        </p:nvSpPr>
        <p:spPr>
          <a:xfrm>
            <a:off x="1188720" y="3154680"/>
            <a:ext cx="4206240" cy="731520"/>
          </a:xfrm>
          <a:prstGeom prst="rect">
            <a:avLst/>
          </a:prstGeom>
          <a:noFill/>
          <a:ln/>
        </p:spPr>
        <p:txBody>
          <a:bodyPr wrap="square" lIns="0" tIns="0" rIns="0" bIns="0" rtlCol="0" anchor="t"/>
          <a:lstStyle/>
          <a:p>
            <a:pPr indent="0" marL="0">
              <a:buNone/>
            </a:pPr>
            <a:r>
              <a:rPr lang="en-US" sz="1600" b="1" dirty="0">
                <a:solidFill>
                  <a:schemeClr val="tx1"/>
                </a:solidFill>
              </a:rPr>
              <a:t>Run the code</a:t>
            </a:r>
            <a:endParaRPr lang="en-US" sz="1600" dirty="0"/>
          </a:p>
          <a:p>
            <a:pPr indent="0" marL="0">
              <a:buNone/>
            </a:pPr>
            <a:r>
              <a:rPr lang="en-US" sz="1300" dirty="0">
                <a:solidFill>
                  <a:schemeClr val="accent5"/>
                </a:solidFill>
              </a:rPr>
              <a:t>validation, inputs, parameters, first 5 moves</a:t>
            </a:r>
            <a:endParaRPr lang="en-US" sz="1600" dirty="0"/>
          </a:p>
        </p:txBody>
      </p:sp>
      <p:sp>
        <p:nvSpPr>
          <p:cNvPr id="14" name="Step badge"/>
          <p:cNvSpPr/>
          <p:nvPr/>
        </p:nvSpPr>
        <p:spPr>
          <a:xfrm>
            <a:off x="548640" y="4114800"/>
            <a:ext cx="457200" cy="457200"/>
          </a:xfrm>
          <a:prstGeom prst="ellipse">
            <a:avLst/>
          </a:prstGeom>
          <a:solidFill>
            <a:schemeClr val="accent1"/>
          </a:solidFill>
          <a:ln w="12700">
            <a:solidFill>
              <a:schemeClr val="accent1"/>
            </a:solidFill>
            <a:prstDash val="solid"/>
          </a:ln>
        </p:spPr>
      </p:sp>
      <p:sp>
        <p:nvSpPr>
          <p:cNvPr id="15" name="Step number"/>
          <p:cNvSpPr txBox="1"/>
          <p:nvPr/>
        </p:nvSpPr>
        <p:spPr>
          <a:xfrm>
            <a:off x="548640" y="4114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Demo step: Read the output"/>
          <p:cNvSpPr txBox="1"/>
          <p:nvPr/>
        </p:nvSpPr>
        <p:spPr>
          <a:xfrm>
            <a:off x="1188720" y="4069080"/>
            <a:ext cx="4206240" cy="731520"/>
          </a:xfrm>
          <a:prstGeom prst="rect">
            <a:avLst/>
          </a:prstGeom>
          <a:noFill/>
          <a:ln/>
        </p:spPr>
        <p:txBody>
          <a:bodyPr wrap="square" lIns="0" tIns="0" rIns="0" bIns="0" rtlCol="0" anchor="t"/>
          <a:lstStyle/>
          <a:p>
            <a:pPr indent="0" marL="0">
              <a:buNone/>
            </a:pPr>
            <a:r>
              <a:rPr lang="en-US" sz="1600" b="1" dirty="0">
                <a:solidFill>
                  <a:schemeClr val="tx1"/>
                </a:solidFill>
              </a:rPr>
              <a:t>Read the output</a:t>
            </a:r>
            <a:endParaRPr lang="en-US" sz="1600" dirty="0"/>
          </a:p>
          <a:p>
            <a:pPr indent="0" marL="0">
              <a:buNone/>
            </a:pPr>
            <a:r>
              <a:rPr lang="en-US" sz="1300" dirty="0">
                <a:solidFill>
                  <a:schemeClr val="accent5"/>
                </a:solidFill>
              </a:rPr>
              <a:t>best tour, total km, verification, brute force</a:t>
            </a:r>
            <a:endParaRPr lang="en-US" sz="1600" dirty="0"/>
          </a:p>
        </p:txBody>
      </p:sp>
      <p:sp>
        <p:nvSpPr>
          <p:cNvPr id="17" name="Step badge"/>
          <p:cNvSpPr/>
          <p:nvPr/>
        </p:nvSpPr>
        <p:spPr>
          <a:xfrm>
            <a:off x="548640" y="5029200"/>
            <a:ext cx="457200" cy="457200"/>
          </a:xfrm>
          <a:prstGeom prst="ellipse">
            <a:avLst/>
          </a:prstGeom>
          <a:solidFill>
            <a:schemeClr val="accent1"/>
          </a:solidFill>
          <a:ln w="12700">
            <a:solidFill>
              <a:schemeClr val="accent1"/>
            </a:solidFill>
            <a:prstDash val="solid"/>
          </a:ln>
        </p:spPr>
      </p:sp>
      <p:sp>
        <p:nvSpPr>
          <p:cNvPr id="18" name="Step number"/>
          <p:cNvSpPr txBox="1"/>
          <p:nvPr/>
        </p:nvSpPr>
        <p:spPr>
          <a:xfrm>
            <a:off x="548640" y="5029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Demo step: Show the route"/>
          <p:cNvSpPr txBox="1"/>
          <p:nvPr/>
        </p:nvSpPr>
        <p:spPr>
          <a:xfrm>
            <a:off x="1188720" y="4983480"/>
            <a:ext cx="4206240" cy="731520"/>
          </a:xfrm>
          <a:prstGeom prst="rect">
            <a:avLst/>
          </a:prstGeom>
          <a:noFill/>
          <a:ln/>
        </p:spPr>
        <p:txBody>
          <a:bodyPr wrap="square" lIns="0" tIns="0" rIns="0" bIns="0" rtlCol="0" anchor="t"/>
          <a:lstStyle/>
          <a:p>
            <a:pPr indent="0" marL="0">
              <a:buNone/>
            </a:pPr>
            <a:r>
              <a:rPr lang="en-US" sz="1600" b="1" dirty="0">
                <a:solidFill>
                  <a:schemeClr val="tx1"/>
                </a:solidFill>
              </a:rPr>
              <a:t>Show the route</a:t>
            </a:r>
            <a:endParaRPr lang="en-US" sz="1600" dirty="0"/>
          </a:p>
          <a:p>
            <a:pPr indent="0" marL="0">
              <a:buNone/>
            </a:pPr>
            <a:r>
              <a:rPr lang="en-US" sz="1300" dirty="0">
                <a:solidFill>
                  <a:schemeClr val="accent5"/>
                </a:solidFill>
              </a:rPr>
              <a:t>outputs/route_map.html and convergence plot</a:t>
            </a:r>
            <a:endParaRPr lang="en-US" sz="1600" dirty="0"/>
          </a:p>
        </p:txBody>
      </p:sp>
      <p:sp>
        <p:nvSpPr>
          <p:cNvPr id="20" name="Code panel"/>
          <p:cNvSpPr/>
          <p:nvPr/>
        </p:nvSpPr>
        <p:spPr>
          <a:xfrm>
            <a:off x="5760720" y="1280160"/>
            <a:ext cx="5882335" cy="2697480"/>
          </a:xfrm>
          <a:prstGeom prst="roundRect">
            <a:avLst>
              <a:gd name="adj" fmla="val 2712"/>
            </a:avLst>
          </a:prstGeom>
          <a:solidFill>
            <a:schemeClr val="tx1"/>
          </a:solidFill>
          <a:ln w="12700">
            <a:solidFill>
              <a:schemeClr val="tx1"/>
            </a:solidFill>
            <a:prstDash val="solid"/>
          </a:ln>
        </p:spPr>
      </p:sp>
      <p:sp>
        <p:nvSpPr>
          <p:cNvPr id="21" name="Code"/>
          <p:cNvSpPr txBox="1"/>
          <p:nvPr/>
        </p:nvSpPr>
        <p:spPr>
          <a:xfrm>
            <a:off x="5989320" y="1463040"/>
            <a:ext cx="5425135" cy="2331720"/>
          </a:xfrm>
          <a:prstGeom prst="rect">
            <a:avLst/>
          </a:prstGeom>
          <a:noFill/>
          <a:ln/>
        </p:spPr>
        <p:txBody>
          <a:bodyPr wrap="square" lIns="0" tIns="0" rIns="0" bIns="0" rtlCol="0" anchor="t"/>
          <a:lstStyle/>
          <a:p>
            <a:pPr indent="0" marL="0">
              <a:buNone/>
            </a:pPr>
            <a:r>
              <a:rPr lang="en-US" sz="1200" dirty="0">
                <a:solidFill>
                  <a:srgbClr val="E8EAED"/>
                </a:solidFill>
                <a:latin typeface="Courier New" pitchFamily="34" charset="0"/>
                <a:ea typeface="Courier New" pitchFamily="34" charset="-122"/>
                <a:cs typeface="Courier New" pitchFamily="34" charset="-120"/>
              </a:rPr>
              <a:t>for _ in range(params.iterations_per_temperature):</a:t>
            </a:r>
            <a:endParaRPr lang="en-US" sz="1200" dirty="0"/>
          </a:p>
          <a:p>
            <a:pPr indent="0" marL="0">
              <a:buNone/>
            </a:pPr>
            <a:r>
              <a:rPr lang="en-US" sz="1200" dirty="0">
                <a:solidFill>
                  <a:srgbClr val="E8EAED"/>
                </a:solidFill>
                <a:latin typeface="Courier New" pitchFamily="34" charset="0"/>
                <a:ea typeface="Courier New" pitchFamily="34" charset="-122"/>
                <a:cs typeface="Courier New" pitchFamily="34" charset="-120"/>
              </a:rPr>
              <a:t>    new_tour, positions = make_move(current, rng)  # 4</a:t>
            </a:r>
            <a:endParaRPr lang="en-US" sz="1200" dirty="0"/>
          </a:p>
          <a:p>
            <a:pPr indent="0" marL="0">
              <a:buNone/>
            </a:pPr>
            <a:r>
              <a:rPr lang="en-US" sz="1200" dirty="0">
                <a:solidFill>
                  <a:srgbClr val="E8EAED"/>
                </a:solidFill>
                <a:latin typeface="Courier New" pitchFamily="34" charset="0"/>
                <a:ea typeface="Courier New" pitchFamily="34" charset="-122"/>
                <a:cs typeface="Courier New" pitchFamily="34" charset="-120"/>
              </a:rPr>
              <a:t>    new_cost = tour_cost(new_tour, D)              # 5</a:t>
            </a:r>
            <a:endParaRPr lang="en-US" sz="1200" dirty="0"/>
          </a:p>
          <a:p>
            <a:pPr indent="0" marL="0">
              <a:buNone/>
            </a:pPr>
            <a:r>
              <a:rPr lang="en-US" sz="1200" dirty="0">
                <a:solidFill>
                  <a:srgbClr val="E8EAED"/>
                </a:solidFill>
                <a:latin typeface="Courier New" pitchFamily="34" charset="0"/>
                <a:ea typeface="Courier New" pitchFamily="34" charset="-122"/>
                <a:cs typeface="Courier New" pitchFamily="34" charset="-120"/>
              </a:rPr>
              <a:t>    delta = new_cost - current_cost</a:t>
            </a:r>
            <a:endParaRPr lang="en-US" sz="1200" dirty="0"/>
          </a:p>
          <a:p>
            <a:pPr indent="0" marL="0">
              <a:buNone/>
            </a:pPr>
            <a:r>
              <a:rPr lang="en-US" sz="1200" dirty="0">
                <a:solidFill>
                  <a:srgbClr val="E8EAED"/>
                </a:solidFill>
                <a:latin typeface="Courier New" pitchFamily="34" charset="0"/>
                <a:ea typeface="Courier New" pitchFamily="34" charset="-122"/>
                <a:cs typeface="Courier New" pitchFamily="34" charset="-120"/>
              </a:rPr>
              <a:t>    accepted, p, r = metropolis(delta, T, rng)     # 6-10</a:t>
            </a:r>
            <a:endParaRPr lang="en-US" sz="1200" dirty="0"/>
          </a:p>
          <a:p>
            <a:pPr indent="0" marL="0">
              <a:buNone/>
            </a:pPr>
            <a:r>
              <a:rPr lang="en-US" sz="1200" dirty="0">
                <a:solidFill>
                  <a:srgbClr val="E8EAED"/>
                </a:solidFill>
                <a:latin typeface="Courier New" pitchFamily="34" charset="0"/>
                <a:ea typeface="Courier New" pitchFamily="34" charset="-122"/>
                <a:cs typeface="Courier New" pitchFamily="34" charset="-120"/>
              </a:rPr>
              <a:t>    if accepted:</a:t>
            </a:r>
            <a:endParaRPr lang="en-US" sz="1200" dirty="0"/>
          </a:p>
          <a:p>
            <a:pPr indent="0" marL="0">
              <a:buNone/>
            </a:pPr>
            <a:r>
              <a:rPr lang="en-US" sz="1200" dirty="0">
                <a:solidFill>
                  <a:srgbClr val="E8EAED"/>
                </a:solidFill>
                <a:latin typeface="Courier New" pitchFamily="34" charset="0"/>
                <a:ea typeface="Courier New" pitchFamily="34" charset="-122"/>
                <a:cs typeface="Courier New" pitchFamily="34" charset="-120"/>
              </a:rPr>
              <a:t>        current, current_cost = new_tour, new_cost</a:t>
            </a:r>
            <a:endParaRPr lang="en-US" sz="1200" dirty="0"/>
          </a:p>
          <a:p>
            <a:pPr indent="0" marL="0">
              <a:buNone/>
            </a:pPr>
            <a:r>
              <a:rPr lang="en-US" sz="1200" dirty="0">
                <a:solidFill>
                  <a:srgbClr val="E8EAED"/>
                </a:solidFill>
                <a:latin typeface="Courier New" pitchFamily="34" charset="0"/>
                <a:ea typeface="Courier New" pitchFamily="34" charset="-122"/>
                <a:cs typeface="Courier New" pitchFamily="34" charset="-120"/>
              </a:rPr>
              <a:t>        if current_cost &lt; best_cost:               # 13</a:t>
            </a:r>
            <a:endParaRPr lang="en-US" sz="1200" dirty="0"/>
          </a:p>
          <a:p>
            <a:pPr indent="0" marL="0">
              <a:buNone/>
            </a:pPr>
            <a:r>
              <a:rPr lang="en-US" sz="1200" dirty="0">
                <a:solidFill>
                  <a:srgbClr val="E8EAED"/>
                </a:solidFill>
                <a:latin typeface="Courier New" pitchFamily="34" charset="0"/>
                <a:ea typeface="Courier New" pitchFamily="34" charset="-122"/>
                <a:cs typeface="Courier New" pitchFamily="34" charset="-120"/>
              </a:rPr>
              <a:t>            best, best_cost = current.copy(), current_cost</a:t>
            </a:r>
            <a:endParaRPr lang="en-US" sz="1200" dirty="0"/>
          </a:p>
          <a:p>
            <a:pPr indent="0" marL="0">
              <a:buNone/>
            </a:pPr>
            <a:r>
              <a:rPr lang="en-US" sz="1200" dirty="0">
                <a:solidFill>
                  <a:srgbClr val="E8EAED"/>
                </a:solidFill>
                <a:latin typeface="Courier New" pitchFamily="34" charset="0"/>
                <a:ea typeface="Courier New" pitchFamily="34" charset="-122"/>
                <a:cs typeface="Courier New" pitchFamily="34" charset="-120"/>
              </a:rPr>
              <a:t>T *= params.alpha                                  # 11</a:t>
            </a:r>
            <a:endParaRPr lang="en-US" sz="1200" dirty="0"/>
          </a:p>
        </p:txBody>
      </p:sp>
      <p:sp>
        <p:nvSpPr>
          <p:cNvPr id="22" name="Code caption"/>
          <p:cNvSpPr txBox="1"/>
          <p:nvPr/>
        </p:nvSpPr>
        <p:spPr>
          <a:xfrm>
            <a:off x="5760720" y="4041648"/>
            <a:ext cx="5882335" cy="274320"/>
          </a:xfrm>
          <a:prstGeom prst="rect">
            <a:avLst/>
          </a:prstGeom>
          <a:noFill/>
          <a:ln/>
        </p:spPr>
        <p:txBody>
          <a:bodyPr wrap="square" lIns="0" tIns="0" rIns="0" bIns="0" rtlCol="0" anchor="ctr"/>
          <a:lstStyle/>
          <a:p>
            <a:pPr indent="0" marL="0">
              <a:buNone/>
            </a:pPr>
            <a:r>
              <a:rPr lang="en-US" sz="1100" dirty="0">
                <a:solidFill>
                  <a:schemeClr val="accent5"/>
                </a:solidFill>
              </a:rPr>
              <a:t>Core loop of src/simulated_annealing.py (comments = Algorithm 2.5 steps)</a:t>
            </a:r>
            <a:endParaRPr lang="en-US" sz="1100" dirty="0"/>
          </a:p>
        </p:txBody>
      </p:sp>
      <p:sp>
        <p:nvSpPr>
          <p:cNvPr id="23" name="Modules card"/>
          <p:cNvSpPr/>
          <p:nvPr/>
        </p:nvSpPr>
        <p:spPr>
          <a:xfrm>
            <a:off x="5760720" y="4526280"/>
            <a:ext cx="5882335" cy="1188720"/>
          </a:xfrm>
          <a:prstGeom prst="roundRect">
            <a:avLst>
              <a:gd name="adj" fmla="val 6154"/>
            </a:avLst>
          </a:prstGeom>
          <a:solidFill>
            <a:schemeClr val="bg2"/>
          </a:solidFill>
          <a:ln w="12700">
            <a:solidFill>
              <a:schemeClr val="bg2"/>
            </a:solidFill>
            <a:prstDash val="solid"/>
          </a:ln>
        </p:spPr>
      </p:sp>
      <p:sp>
        <p:nvSpPr>
          <p:cNvPr id="24" name="Card heading: Main code components (src/)"/>
          <p:cNvSpPr txBox="1"/>
          <p:nvPr/>
        </p:nvSpPr>
        <p:spPr>
          <a:xfrm>
            <a:off x="5989320" y="4636008"/>
            <a:ext cx="5425135" cy="329184"/>
          </a:xfrm>
          <a:prstGeom prst="rect">
            <a:avLst/>
          </a:prstGeom>
          <a:noFill/>
          <a:ln/>
        </p:spPr>
        <p:txBody>
          <a:bodyPr wrap="square" lIns="0" tIns="0" rIns="0" bIns="0" rtlCol="0" anchor="ctr"/>
          <a:lstStyle/>
          <a:p>
            <a:pPr indent="0" marL="0">
              <a:buNone/>
            </a:pPr>
            <a:r>
              <a:rPr lang="en-US" sz="1600" b="1" dirty="0">
                <a:solidFill>
                  <a:schemeClr val="accent1"/>
                </a:solidFill>
              </a:rPr>
              <a:t>Main code components (src/)</a:t>
            </a:r>
            <a:endParaRPr lang="en-US" sz="1600" dirty="0"/>
          </a:p>
        </p:txBody>
      </p:sp>
      <p:sp>
        <p:nvSpPr>
          <p:cNvPr id="25" name="Modules"/>
          <p:cNvSpPr txBox="1"/>
          <p:nvPr/>
        </p:nvSpPr>
        <p:spPr>
          <a:xfrm>
            <a:off x="5989320" y="4974336"/>
            <a:ext cx="5425135" cy="685800"/>
          </a:xfrm>
          <a:prstGeom prst="rect">
            <a:avLst/>
          </a:prstGeom>
          <a:noFill/>
          <a:ln/>
        </p:spPr>
        <p:txBody>
          <a:bodyPr wrap="square" lIns="0" tIns="0" rIns="0" bIns="0" rtlCol="0" anchor="t"/>
          <a:lstStyle/>
          <a:p>
            <a:pPr indent="0" marL="0">
              <a:buNone/>
            </a:pPr>
            <a:r>
              <a:rPr lang="en-US" sz="1400" dirty="0">
                <a:solidFill>
                  <a:schemeClr val="tx1"/>
                </a:solidFill>
              </a:rPr>
              <a:t>data_loader · graph_model · simulated_annealing · verify · baselines (brute force, greedy) · experiments · maps</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1188720" y="347472"/>
            <a:ext cx="1042416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Results &amp; Verification</a:t>
            </a:r>
            <a:endParaRPr lang="en-US" sz="3400" dirty="0"/>
          </a:p>
        </p:txBody>
      </p:sp>
      <p:sp>
        <p:nvSpPr>
          <p:cNvPr id="3" name="Section badge"/>
          <p:cNvSpPr/>
          <p:nvPr/>
        </p:nvSpPr>
        <p:spPr>
          <a:xfrm>
            <a:off x="548640" y="438912"/>
            <a:ext cx="548640" cy="548640"/>
          </a:xfrm>
          <a:prstGeom prst="ellipse">
            <a:avLst/>
          </a:prstGeom>
          <a:solidFill>
            <a:schemeClr val="accent1"/>
          </a:solidFill>
          <a:ln w="12700">
            <a:solidFill>
              <a:schemeClr val="accent1"/>
            </a:solidFill>
            <a:prstDash val="solid"/>
          </a:ln>
        </p:spPr>
      </p:sp>
      <p:sp>
        <p:nvSpPr>
          <p:cNvPr id="4" name="Section number"/>
          <p:cNvSpPr txBox="1"/>
          <p:nvPr/>
        </p:nvSpPr>
        <p:spPr>
          <a:xfrm>
            <a:off x="548640" y="438912"/>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6</a:t>
            </a:r>
            <a:endParaRPr lang="en-US" sz="2200" dirty="0"/>
          </a:p>
        </p:txBody>
      </p:sp>
      <p:sp>
        <p:nvSpPr>
          <p:cNvPr id="5" name="Speaker"/>
          <p:cNvSpPr txBox="1"/>
          <p:nvPr/>
        </p:nvSpPr>
        <p:spPr>
          <a:xfrm>
            <a:off x="8412480" y="6446520"/>
            <a:ext cx="2651760" cy="274320"/>
          </a:xfrm>
          <a:prstGeom prst="rect">
            <a:avLst/>
          </a:prstGeom>
          <a:noFill/>
          <a:ln/>
        </p:spPr>
        <p:txBody>
          <a:bodyPr wrap="square" lIns="0" tIns="0" rIns="0" bIns="0" rtlCol="0" anchor="ctr"/>
          <a:lstStyle/>
          <a:p>
            <a:pPr algn="r" indent="0" marL="0">
              <a:buNone/>
            </a:pPr>
            <a:r>
              <a:rPr lang="en-US" sz="1000" dirty="0">
                <a:solidFill>
                  <a:schemeClr val="accent5"/>
                </a:solidFill>
              </a:rPr>
              <a:t>Speaker: Vin Marcus Gerebise</a:t>
            </a:r>
            <a:endParaRPr lang="en-US" sz="1000" dirty="0"/>
          </a:p>
        </p:txBody>
      </p:sp>
      <p:pic>
        <p:nvPicPr>
          <p:cNvPr id="6" name="Optimal route on the map of Cagayan de Oro, 14.1 km" descr="Optimal route on the map of Cagayan de Oro, 14.1 km">    </p:cNvPr>
          <p:cNvPicPr>
            <a:picLocks noChangeAspect="1"/>
          </p:cNvPicPr>
          <p:nvPr/>
        </p:nvPicPr>
        <p:blipFill>
          <a:blip r:embed="rId1"/>
          <a:stretch>
            <a:fillRect/>
          </a:stretch>
        </p:blipFill>
        <p:spPr>
          <a:xfrm>
            <a:off x="548640" y="1280160"/>
            <a:ext cx="4892040" cy="3831336"/>
          </a:xfrm>
          <a:prstGeom prst="rect">
            <a:avLst/>
          </a:prstGeom>
        </p:spPr>
      </p:pic>
      <p:sp>
        <p:nvSpPr>
          <p:cNvPr id="7" name="Optimality callout"/>
          <p:cNvSpPr/>
          <p:nvPr/>
        </p:nvSpPr>
        <p:spPr>
          <a:xfrm>
            <a:off x="548640" y="5257800"/>
            <a:ext cx="4892040" cy="1097280"/>
          </a:xfrm>
          <a:prstGeom prst="roundRect">
            <a:avLst>
              <a:gd name="adj" fmla="val 6667"/>
            </a:avLst>
          </a:prstGeom>
          <a:solidFill>
            <a:schemeClr val="accent1"/>
          </a:solidFill>
          <a:ln w="12700">
            <a:solidFill>
              <a:schemeClr val="accent1"/>
            </a:solidFill>
            <a:prstDash val="solid"/>
          </a:ln>
        </p:spPr>
      </p:sp>
      <p:sp>
        <p:nvSpPr>
          <p:cNvPr id="8" name="Optimality"/>
          <p:cNvSpPr txBox="1"/>
          <p:nvPr/>
        </p:nvSpPr>
        <p:spPr>
          <a:xfrm>
            <a:off x="731520" y="5303520"/>
            <a:ext cx="4526280" cy="1005840"/>
          </a:xfrm>
          <a:prstGeom prst="rect">
            <a:avLst/>
          </a:prstGeom>
          <a:noFill/>
          <a:ln/>
        </p:spPr>
        <p:txBody>
          <a:bodyPr wrap="square" lIns="0" tIns="0" rIns="0" bIns="0" rtlCol="0" anchor="ctr"/>
          <a:lstStyle/>
          <a:p>
            <a:pPr indent="0" marL="0">
              <a:buNone/>
            </a:pPr>
            <a:r>
              <a:rPr lang="en-US" sz="1600" b="1" dirty="0">
                <a:solidFill>
                  <a:schemeClr val="bg1"/>
                </a:solidFill>
              </a:rPr>
              <a:t>Proven optimal for this instance</a:t>
            </a:r>
            <a:endParaRPr lang="en-US" sz="1600" dirty="0"/>
          </a:p>
          <a:p>
            <a:pPr indent="0" marL="0">
              <a:buNone/>
            </a:pPr>
            <a:r>
              <a:rPr lang="en-US" sz="1300" dirty="0">
                <a:solidFill>
                  <a:schemeClr val="bg1"/>
                </a:solidFill>
              </a:rPr>
              <a:t>Brute force checked all 40,320 tours: minimum = 14.1 km. The proof is the exhaustive search, not SA.</a:t>
            </a:r>
            <a:endParaRPr lang="en-US" sz="1600" dirty="0"/>
          </a:p>
        </p:txBody>
      </p:sp>
      <p:sp>
        <p:nvSpPr>
          <p:cNvPr id="9" name="Total"/>
          <p:cNvSpPr txBox="1"/>
          <p:nvPr/>
        </p:nvSpPr>
        <p:spPr>
          <a:xfrm>
            <a:off x="5806440" y="1188720"/>
            <a:ext cx="5836615" cy="7772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14.1 km</a:t>
            </a:r>
            <a:pPr indent="0" marL="0">
              <a:buNone/>
            </a:pPr>
            <a:r>
              <a:rPr lang="en-US" sz="1400" dirty="0">
                <a:solidFill>
                  <a:schemeClr val="accent5"/>
                </a:solidFill>
              </a:rPr>
              <a:t>   total driving distance, closed tour</a:t>
            </a:r>
            <a:endParaRPr lang="en-US" sz="4800" dirty="0"/>
          </a:p>
        </p:txBody>
      </p:sp>
      <p:sp>
        <p:nvSpPr>
          <p:cNvPr id="10" name="Route"/>
          <p:cNvSpPr txBox="1"/>
          <p:nvPr/>
        </p:nvSpPr>
        <p:spPr>
          <a:xfrm>
            <a:off x="5806440" y="2011680"/>
            <a:ext cx="5836615" cy="685800"/>
          </a:xfrm>
          <a:prstGeom prst="rect">
            <a:avLst/>
          </a:prstGeom>
          <a:noFill/>
          <a:ln/>
        </p:spPr>
        <p:txBody>
          <a:bodyPr wrap="square" lIns="0" tIns="0" rIns="0" bIns="0" rtlCol="0" anchor="t"/>
          <a:lstStyle/>
          <a:p>
            <a:pPr indent="0" marL="0">
              <a:buNone/>
            </a:pPr>
            <a:r>
              <a:rPr lang="en-US" sz="1600" b="1" dirty="0">
                <a:solidFill>
                  <a:srgbClr val="000000"/>
                </a:solidFill>
              </a:rPr>
              <a:t>V0 → V7 → V1 → V5 → V3 → V6 → V8 → V2 → V4 → V0</a:t>
            </a:r>
            <a:endParaRPr lang="en-US" sz="1600" dirty="0"/>
          </a:p>
          <a:p>
            <a:pPr indent="0" marL="0">
              <a:buNone/>
            </a:pPr>
            <a:r>
              <a:rPr lang="en-US" sz="1200" dirty="0">
                <a:solidFill>
                  <a:schemeClr val="accent5"/>
                </a:solidFill>
              </a:rPr>
              <a:t>PRC → NMMC → ACE → MRXUH → PGH Velez → Madonna → JRBGH → PMP Kausw → Sabal → PRC</a:t>
            </a:r>
            <a:endParaRPr lang="en-US" sz="1600" dirty="0"/>
          </a:p>
        </p:txBody>
      </p:sp>
      <p:sp>
        <p:nvSpPr>
          <p:cNvPr id="11" name="Verification card"/>
          <p:cNvSpPr/>
          <p:nvPr/>
        </p:nvSpPr>
        <p:spPr>
          <a:xfrm>
            <a:off x="5806440" y="2834640"/>
            <a:ext cx="5836615" cy="1234440"/>
          </a:xfrm>
          <a:prstGeom prst="roundRect">
            <a:avLst>
              <a:gd name="adj" fmla="val 5926"/>
            </a:avLst>
          </a:prstGeom>
          <a:solidFill>
            <a:schemeClr val="bg2"/>
          </a:solidFill>
          <a:ln w="12700">
            <a:solidFill>
              <a:schemeClr val="bg2"/>
            </a:solidFill>
            <a:prstDash val="solid"/>
          </a:ln>
        </p:spPr>
      </p:sp>
      <p:sp>
        <p:nvSpPr>
          <p:cNvPr id="12" name="Card heading: Verification (src/verify.py): PASS"/>
          <p:cNvSpPr txBox="1"/>
          <p:nvPr/>
        </p:nvSpPr>
        <p:spPr>
          <a:xfrm>
            <a:off x="6035040" y="2907792"/>
            <a:ext cx="5379415" cy="329184"/>
          </a:xfrm>
          <a:prstGeom prst="rect">
            <a:avLst/>
          </a:prstGeom>
          <a:noFill/>
          <a:ln/>
        </p:spPr>
        <p:txBody>
          <a:bodyPr wrap="square" lIns="0" tIns="0" rIns="0" bIns="0" rtlCol="0" anchor="ctr"/>
          <a:lstStyle/>
          <a:p>
            <a:pPr indent="0" marL="0">
              <a:buNone/>
            </a:pPr>
            <a:r>
              <a:rPr lang="en-US" sz="1600" b="1" dirty="0">
                <a:solidFill>
                  <a:schemeClr val="accent4"/>
                </a:solidFill>
              </a:rPr>
              <a:t>Verification (src/verify.py): PASS</a:t>
            </a:r>
            <a:endParaRPr lang="en-US" sz="1600" dirty="0"/>
          </a:p>
        </p:txBody>
      </p:sp>
      <p:sp>
        <p:nvSpPr>
          <p:cNvPr id="13" name="Edge-by-edge recount"/>
          <p:cNvSpPr txBox="1"/>
          <p:nvPr/>
        </p:nvSpPr>
        <p:spPr>
          <a:xfrm>
            <a:off x="6035040" y="3246120"/>
            <a:ext cx="5379415" cy="777240"/>
          </a:xfrm>
          <a:prstGeom prst="rect">
            <a:avLst/>
          </a:prstGeom>
          <a:noFill/>
          <a:ln/>
        </p:spPr>
        <p:txBody>
          <a:bodyPr wrap="square" lIns="0" tIns="0" rIns="0" bIns="0" rtlCol="0" anchor="t"/>
          <a:lstStyle/>
          <a:p>
            <a:pPr indent="0" marL="0">
              <a:buNone/>
            </a:pPr>
            <a:r>
              <a:rPr lang="en-US" sz="1300" dirty="0">
                <a:solidFill>
                  <a:schemeClr val="tx1"/>
                </a:solidFill>
              </a:rPr>
              <a:t>0.14 + 1.62 + 1.26 + 1.63 + 1.85 + 1.00 + 3.63 + 2.74 + 0.23 = 14.10 km</a:t>
            </a:r>
            <a:endParaRPr lang="en-US" sz="1300" dirty="0"/>
          </a:p>
          <a:p>
            <a:pPr indent="0" marL="0">
              <a:buNone/>
            </a:pPr>
            <a:r>
              <a:rPr lang="en-US" sz="1300" dirty="0">
                <a:solidFill>
                  <a:schemeClr val="accent5"/>
                </a:solidFill>
              </a:rPr>
              <a:t>= SA's reported total. Starts and ends at V0; every hospital exactly once.</a:t>
            </a:r>
            <a:endParaRPr lang="en-US" sz="1300" dirty="0"/>
          </a:p>
        </p:txBody>
      </p:sp>
      <p:graphicFrame>
        <p:nvGraphicFramePr>
          <p:cNvPr id="14" name="Comparison chart" descr=""/>
          <p:cNvGraphicFramePr/>
          <p:nvPr/>
        </p:nvGraphicFramePr>
        <p:xfrm>
          <a:off x="5806440" y="4206240"/>
          <a:ext cx="5836615" cy="214884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1188720" y="347472"/>
            <a:ext cx="10424160" cy="731520"/>
          </a:xfrm>
          <a:prstGeom prst="rect">
            <a:avLst/>
          </a:prstGeom>
          <a:noFill/>
          <a:ln/>
        </p:spPr>
        <p:txBody>
          <a:bodyPr wrap="square" lIns="0" tIns="0" rIns="0" bIns="0" rtlCol="0" anchor="ctr"/>
          <a:lstStyle/>
          <a:p>
            <a:pPr algn="l" indent="0" marL="0">
              <a:buNone/>
            </a:pPr>
            <a:r>
              <a:rPr lang="en-US" sz="3400" b="1" dirty="0">
                <a:solidFill>
                  <a:schemeClr val="bg1"/>
                </a:solidFill>
                <a:latin typeface="Cambria" pitchFamily="34" charset="0"/>
                <a:ea typeface="Cambria" pitchFamily="34" charset="-122"/>
                <a:cs typeface="Cambria" pitchFamily="34" charset="-120"/>
              </a:rPr>
              <a:t>Conclusion</a:t>
            </a:r>
            <a:endParaRPr lang="en-US" sz="3400" dirty="0"/>
          </a:p>
        </p:txBody>
      </p:sp>
      <p:sp>
        <p:nvSpPr>
          <p:cNvPr id="3" name="Section badge"/>
          <p:cNvSpPr/>
          <p:nvPr/>
        </p:nvSpPr>
        <p:spPr>
          <a:xfrm>
            <a:off x="548640" y="438912"/>
            <a:ext cx="548640" cy="548640"/>
          </a:xfrm>
          <a:prstGeom prst="ellipse">
            <a:avLst/>
          </a:prstGeom>
          <a:solidFill>
            <a:schemeClr val="accent1"/>
          </a:solidFill>
          <a:ln w="12700">
            <a:solidFill>
              <a:schemeClr val="accent1"/>
            </a:solidFill>
            <a:prstDash val="solid"/>
          </a:ln>
        </p:spPr>
      </p:sp>
      <p:sp>
        <p:nvSpPr>
          <p:cNvPr id="4" name="Section number"/>
          <p:cNvSpPr txBox="1"/>
          <p:nvPr/>
        </p:nvSpPr>
        <p:spPr>
          <a:xfrm>
            <a:off x="548640" y="438912"/>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7</a:t>
            </a:r>
            <a:endParaRPr lang="en-US" sz="2200" dirty="0"/>
          </a:p>
        </p:txBody>
      </p:sp>
      <p:sp>
        <p:nvSpPr>
          <p:cNvPr id="5" name="Speaker"/>
          <p:cNvSpPr txBox="1"/>
          <p:nvPr/>
        </p:nvSpPr>
        <p:spPr>
          <a:xfrm>
            <a:off x="8412480" y="6446520"/>
            <a:ext cx="2651760" cy="274320"/>
          </a:xfrm>
          <a:prstGeom prst="rect">
            <a:avLst/>
          </a:prstGeom>
          <a:noFill/>
          <a:ln/>
        </p:spPr>
        <p:txBody>
          <a:bodyPr wrap="square" lIns="0" tIns="0" rIns="0" bIns="0" rtlCol="0" anchor="ctr"/>
          <a:lstStyle/>
          <a:p>
            <a:pPr algn="r" indent="0" marL="0">
              <a:buNone/>
            </a:pPr>
            <a:r>
              <a:rPr lang="en-US" sz="1000" dirty="0">
                <a:solidFill>
                  <a:srgbClr val="C9B8BC"/>
                </a:solidFill>
              </a:rPr>
              <a:t>Speaker: Ira Chloie Narisma</a:t>
            </a:r>
            <a:endParaRPr lang="en-US" sz="1000" dirty="0"/>
          </a:p>
        </p:txBody>
      </p:sp>
      <p:sp>
        <p:nvSpPr>
          <p:cNvPr id="6" name="KPI card"/>
          <p:cNvSpPr/>
          <p:nvPr/>
        </p:nvSpPr>
        <p:spPr>
          <a:xfrm>
            <a:off x="548640" y="1325880"/>
            <a:ext cx="3515258" cy="1417320"/>
          </a:xfrm>
          <a:prstGeom prst="roundRect">
            <a:avLst>
              <a:gd name="adj" fmla="val 5161"/>
            </a:avLst>
          </a:prstGeom>
          <a:solidFill>
            <a:srgbClr val="45131E"/>
          </a:solidFill>
          <a:ln w="12700">
            <a:solidFill>
              <a:srgbClr val="45131E"/>
            </a:solidFill>
            <a:prstDash val="solid"/>
          </a:ln>
        </p:spPr>
      </p:sp>
      <p:sp>
        <p:nvSpPr>
          <p:cNvPr id="7" name="KPI: optimal closed tour, proven by brute force"/>
          <p:cNvSpPr txBox="1"/>
          <p:nvPr/>
        </p:nvSpPr>
        <p:spPr>
          <a:xfrm>
            <a:off x="777240" y="1463040"/>
            <a:ext cx="3058058" cy="118872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14.1 km</a:t>
            </a:r>
            <a:endParaRPr lang="en-US" sz="4000" dirty="0"/>
          </a:p>
          <a:p>
            <a:pPr indent="0" marL="0">
              <a:buNone/>
            </a:pPr>
            <a:r>
              <a:rPr lang="en-US" sz="1400" dirty="0">
                <a:solidFill>
                  <a:srgbClr val="E9C9CF"/>
                </a:solidFill>
              </a:rPr>
              <a:t>optimal closed tour, proven by brute force</a:t>
            </a:r>
            <a:endParaRPr lang="en-US" sz="4000" dirty="0"/>
          </a:p>
        </p:txBody>
      </p:sp>
      <p:sp>
        <p:nvSpPr>
          <p:cNvPr id="8" name="KPI card"/>
          <p:cNvSpPr/>
          <p:nvPr/>
        </p:nvSpPr>
        <p:spPr>
          <a:xfrm>
            <a:off x="4338218" y="1325880"/>
            <a:ext cx="3515258" cy="1417320"/>
          </a:xfrm>
          <a:prstGeom prst="roundRect">
            <a:avLst>
              <a:gd name="adj" fmla="val 5161"/>
            </a:avLst>
          </a:prstGeom>
          <a:solidFill>
            <a:srgbClr val="45131E"/>
          </a:solidFill>
          <a:ln w="12700">
            <a:solidFill>
              <a:srgbClr val="45131E"/>
            </a:solidFill>
            <a:prstDash val="solid"/>
          </a:ln>
        </p:spPr>
      </p:sp>
      <p:sp>
        <p:nvSpPr>
          <p:cNvPr id="9" name="KPI: vs an average random order (20.79 km)"/>
          <p:cNvSpPr txBox="1"/>
          <p:nvPr/>
        </p:nvSpPr>
        <p:spPr>
          <a:xfrm>
            <a:off x="4566818" y="1463040"/>
            <a:ext cx="3058058" cy="118872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−32%</a:t>
            </a:r>
            <a:endParaRPr lang="en-US" sz="4000" dirty="0"/>
          </a:p>
          <a:p>
            <a:pPr indent="0" marL="0">
              <a:buNone/>
            </a:pPr>
            <a:r>
              <a:rPr lang="en-US" sz="1400" dirty="0">
                <a:solidFill>
                  <a:srgbClr val="E9C9CF"/>
                </a:solidFill>
              </a:rPr>
              <a:t>vs an average random order (20.79 km)</a:t>
            </a:r>
            <a:endParaRPr lang="en-US" sz="4000" dirty="0"/>
          </a:p>
        </p:txBody>
      </p:sp>
      <p:sp>
        <p:nvSpPr>
          <p:cNvPr id="10" name="KPI card"/>
          <p:cNvSpPr/>
          <p:nvPr/>
        </p:nvSpPr>
        <p:spPr>
          <a:xfrm>
            <a:off x="8127797" y="1325880"/>
            <a:ext cx="3515258" cy="1417320"/>
          </a:xfrm>
          <a:prstGeom prst="roundRect">
            <a:avLst>
              <a:gd name="adj" fmla="val 5161"/>
            </a:avLst>
          </a:prstGeom>
          <a:solidFill>
            <a:srgbClr val="45131E"/>
          </a:solidFill>
          <a:ln w="12700">
            <a:solidFill>
              <a:srgbClr val="45131E"/>
            </a:solidFill>
            <a:prstDash val="solid"/>
          </a:ln>
        </p:spPr>
      </p:sp>
      <p:sp>
        <p:nvSpPr>
          <p:cNvPr id="11" name="KPI: vs the greedy route (15.37 km)"/>
          <p:cNvSpPr txBox="1"/>
          <p:nvPr/>
        </p:nvSpPr>
        <p:spPr>
          <a:xfrm>
            <a:off x="8356397" y="1463040"/>
            <a:ext cx="3058058" cy="118872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−8.3%</a:t>
            </a:r>
            <a:endParaRPr lang="en-US" sz="4000" dirty="0"/>
          </a:p>
          <a:p>
            <a:pPr indent="0" marL="0">
              <a:buNone/>
            </a:pPr>
            <a:r>
              <a:rPr lang="en-US" sz="1400" dirty="0">
                <a:solidFill>
                  <a:srgbClr val="E9C9CF"/>
                </a:solidFill>
              </a:rPr>
              <a:t>vs the greedy route (15.37 km)</a:t>
            </a:r>
            <a:endParaRPr lang="en-US" sz="4000" dirty="0"/>
          </a:p>
        </p:txBody>
      </p:sp>
      <p:sp>
        <p:nvSpPr>
          <p:cNvPr id="12" name="Finding"/>
          <p:cNvSpPr txBox="1"/>
          <p:nvPr/>
        </p:nvSpPr>
        <p:spPr>
          <a:xfrm>
            <a:off x="548640" y="2926080"/>
            <a:ext cx="11094415" cy="777240"/>
          </a:xfrm>
          <a:prstGeom prst="rect">
            <a:avLst/>
          </a:prstGeom>
          <a:noFill/>
          <a:ln/>
        </p:spPr>
        <p:txBody>
          <a:bodyPr wrap="square" lIns="0" tIns="0" rIns="0" bIns="0" rtlCol="0" anchor="t"/>
          <a:lstStyle/>
          <a:p>
            <a:pPr indent="0" marL="0">
              <a:buNone/>
            </a:pPr>
            <a:r>
              <a:rPr lang="en-US" sz="1600" dirty="0">
                <a:solidFill>
                  <a:schemeClr val="bg1"/>
                </a:solidFill>
              </a:rPr>
              <a:t>Objective achieved: the courier's route visits all 8 hospitals once, returns to the Red Cross office, and has the shortest possible driving distance on our data. SA found it; brute force proved it optimal.</a:t>
            </a:r>
            <a:endParaRPr lang="en-US" sz="1600" dirty="0"/>
          </a:p>
        </p:txBody>
      </p:sp>
      <p:sp>
        <p:nvSpPr>
          <p:cNvPr id="13" name="Limitations card"/>
          <p:cNvSpPr/>
          <p:nvPr/>
        </p:nvSpPr>
        <p:spPr>
          <a:xfrm>
            <a:off x="548640" y="3886200"/>
            <a:ext cx="5410048" cy="2148840"/>
          </a:xfrm>
          <a:prstGeom prst="roundRect">
            <a:avLst>
              <a:gd name="adj" fmla="val 3404"/>
            </a:avLst>
          </a:prstGeom>
          <a:solidFill>
            <a:srgbClr val="45131E"/>
          </a:solidFill>
          <a:ln w="12700">
            <a:solidFill>
              <a:srgbClr val="45131E"/>
            </a:solidFill>
            <a:prstDash val="solid"/>
          </a:ln>
        </p:spPr>
      </p:sp>
      <p:sp>
        <p:nvSpPr>
          <p:cNvPr id="14" name="Card heading: Limitations"/>
          <p:cNvSpPr txBox="1"/>
          <p:nvPr/>
        </p:nvSpPr>
        <p:spPr>
          <a:xfrm>
            <a:off x="777240" y="3995928"/>
            <a:ext cx="4952848" cy="329184"/>
          </a:xfrm>
          <a:prstGeom prst="rect">
            <a:avLst/>
          </a:prstGeom>
          <a:noFill/>
          <a:ln/>
        </p:spPr>
        <p:txBody>
          <a:bodyPr wrap="square" lIns="0" tIns="0" rIns="0" bIns="0" rtlCol="0" anchor="ctr"/>
          <a:lstStyle/>
          <a:p>
            <a:pPr indent="0" marL="0">
              <a:buNone/>
            </a:pPr>
            <a:r>
              <a:rPr lang="en-US" sz="1600" b="1" dirty="0">
                <a:solidFill>
                  <a:srgbClr val="F7A8B4"/>
                </a:solidFill>
              </a:rPr>
              <a:t>Limitations</a:t>
            </a:r>
            <a:endParaRPr lang="en-US" sz="1600" dirty="0"/>
          </a:p>
        </p:txBody>
      </p:sp>
      <p:sp>
        <p:nvSpPr>
          <p:cNvPr id="15" name="Bullets"/>
          <p:cNvSpPr txBox="1"/>
          <p:nvPr/>
        </p:nvSpPr>
        <p:spPr>
          <a:xfrm>
            <a:off x="777240" y="4361688"/>
            <a:ext cx="4952848" cy="18745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Static distances: no traffic, time of day or closures</a:t>
            </a:r>
            <a:endParaRPr lang="en-US" sz="1400" dirty="0"/>
          </a:p>
          <a:p>
            <a:pPr marL="342900" indent="-342900">
              <a:spcAft>
                <a:spcPts val="400"/>
              </a:spcAft>
              <a:buSzPct val="100000"/>
              <a:buChar char="•"/>
            </a:pPr>
            <a:r>
              <a:rPr lang="en-US" sz="1400" dirty="0">
                <a:solidFill>
                  <a:schemeClr val="bg1"/>
                </a:solidFill>
              </a:rPr>
              <a:t>No time windows; a single vehicle</a:t>
            </a:r>
            <a:endParaRPr lang="en-US" sz="1400" dirty="0"/>
          </a:p>
          <a:p>
            <a:pPr marL="342900" indent="-342900">
              <a:spcAft>
                <a:spcPts val="400"/>
              </a:spcAft>
              <a:buSzPct val="100000"/>
              <a:buChar char="•"/>
            </a:pPr>
            <a:r>
              <a:rPr lang="en-US" sz="1400" dirty="0">
                <a:solidFill>
                  <a:schemeClr val="bg1"/>
                </a:solidFill>
              </a:rPr>
              <a:t>Depends on OpenStreetMap data and OSRM's route choice</a:t>
            </a:r>
            <a:endParaRPr lang="en-US" sz="1400" dirty="0"/>
          </a:p>
          <a:p>
            <a:pPr marL="342900" indent="-342900">
              <a:spcAft>
                <a:spcPts val="400"/>
              </a:spcAft>
              <a:buSzPct val="100000"/>
              <a:buChar char="•"/>
            </a:pPr>
            <a:r>
              <a:rPr lang="en-US" sz="1400" dirty="0">
                <a:solidFill>
                  <a:schemeClr val="bg1"/>
                </a:solidFill>
              </a:rPr>
              <a:t>Small n (needed for the brute-force proof)</a:t>
            </a:r>
            <a:endParaRPr lang="en-US" sz="1400" dirty="0"/>
          </a:p>
        </p:txBody>
      </p:sp>
      <p:sp>
        <p:nvSpPr>
          <p:cNvPr id="16" name="Improvements card"/>
          <p:cNvSpPr/>
          <p:nvPr/>
        </p:nvSpPr>
        <p:spPr>
          <a:xfrm>
            <a:off x="6233008" y="3886200"/>
            <a:ext cx="5410048" cy="2148840"/>
          </a:xfrm>
          <a:prstGeom prst="roundRect">
            <a:avLst>
              <a:gd name="adj" fmla="val 3404"/>
            </a:avLst>
          </a:prstGeom>
          <a:solidFill>
            <a:srgbClr val="45131E"/>
          </a:solidFill>
          <a:ln w="12700">
            <a:solidFill>
              <a:srgbClr val="45131E"/>
            </a:solidFill>
            <a:prstDash val="solid"/>
          </a:ln>
        </p:spPr>
      </p:sp>
      <p:sp>
        <p:nvSpPr>
          <p:cNvPr id="17" name="Card heading: Possible improvements"/>
          <p:cNvSpPr txBox="1"/>
          <p:nvPr/>
        </p:nvSpPr>
        <p:spPr>
          <a:xfrm>
            <a:off x="6461608" y="3995928"/>
            <a:ext cx="4952848" cy="329184"/>
          </a:xfrm>
          <a:prstGeom prst="rect">
            <a:avLst/>
          </a:prstGeom>
          <a:noFill/>
          <a:ln/>
        </p:spPr>
        <p:txBody>
          <a:bodyPr wrap="square" lIns="0" tIns="0" rIns="0" bIns="0" rtlCol="0" anchor="ctr"/>
          <a:lstStyle/>
          <a:p>
            <a:pPr indent="0" marL="0">
              <a:buNone/>
            </a:pPr>
            <a:r>
              <a:rPr lang="en-US" sz="1600" b="1" dirty="0">
                <a:solidFill>
                  <a:srgbClr val="F7A8B4"/>
                </a:solidFill>
              </a:rPr>
              <a:t>Possible improvements</a:t>
            </a:r>
            <a:endParaRPr lang="en-US" sz="1600" dirty="0"/>
          </a:p>
        </p:txBody>
      </p:sp>
      <p:sp>
        <p:nvSpPr>
          <p:cNvPr id="18" name="Bullets"/>
          <p:cNvSpPr txBox="1"/>
          <p:nvPr/>
        </p:nvSpPr>
        <p:spPr>
          <a:xfrm>
            <a:off x="6461608" y="4361688"/>
            <a:ext cx="4952848" cy="18745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Minimise travel time with live traffic</a:t>
            </a:r>
            <a:endParaRPr lang="en-US" sz="1400" dirty="0"/>
          </a:p>
          <a:p>
            <a:pPr marL="342900" indent="-342900">
              <a:spcAft>
                <a:spcPts val="400"/>
              </a:spcAft>
              <a:buSzPct val="100000"/>
              <a:buChar char="•"/>
            </a:pPr>
            <a:r>
              <a:rPr lang="en-US" sz="1400" dirty="0">
                <a:solidFill>
                  <a:schemeClr val="bg1"/>
                </a:solidFill>
              </a:rPr>
              <a:t>Time windows for urgent hospitals</a:t>
            </a:r>
            <a:endParaRPr lang="en-US" sz="1400" dirty="0"/>
          </a:p>
          <a:p>
            <a:pPr marL="342900" indent="-342900">
              <a:spcAft>
                <a:spcPts val="400"/>
              </a:spcAft>
              <a:buSzPct val="100000"/>
              <a:buChar char="•"/>
            </a:pPr>
            <a:r>
              <a:rPr lang="en-US" sz="1400" dirty="0">
                <a:solidFill>
                  <a:schemeClr val="bg1"/>
                </a:solidFill>
              </a:rPr>
              <a:t>Several vehicles (vehicle routing problem)</a:t>
            </a:r>
            <a:endParaRPr lang="en-US" sz="1400" dirty="0"/>
          </a:p>
          <a:p>
            <a:pPr marL="342900" indent="-342900">
              <a:spcAft>
                <a:spcPts val="400"/>
              </a:spcAft>
              <a:buSzPct val="100000"/>
              <a:buChar char="•"/>
            </a:pPr>
            <a:r>
              <a:rPr lang="en-US" sz="1400" dirty="0">
                <a:solidFill>
                  <a:schemeClr val="bg1"/>
                </a:solidFill>
              </a:rPr>
              <a:t>SA + 2-opt hybrid; adaptive cooling; larger n</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B8B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1188720" y="347472"/>
            <a:ext cx="1042416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References</a:t>
            </a:r>
            <a:endParaRPr lang="en-US" sz="3400" dirty="0"/>
          </a:p>
        </p:txBody>
      </p:sp>
      <p:sp>
        <p:nvSpPr>
          <p:cNvPr id="3" name="Section badge"/>
          <p:cNvSpPr/>
          <p:nvPr/>
        </p:nvSpPr>
        <p:spPr>
          <a:xfrm>
            <a:off x="548640" y="438912"/>
            <a:ext cx="548640" cy="548640"/>
          </a:xfrm>
          <a:prstGeom prst="ellipse">
            <a:avLst/>
          </a:prstGeom>
          <a:solidFill>
            <a:schemeClr val="accent1"/>
          </a:solidFill>
          <a:ln w="12700">
            <a:solidFill>
              <a:schemeClr val="accent1"/>
            </a:solidFill>
            <a:prstDash val="solid"/>
          </a:ln>
        </p:spPr>
      </p:sp>
      <p:sp>
        <p:nvSpPr>
          <p:cNvPr id="4" name="Section number"/>
          <p:cNvSpPr txBox="1"/>
          <p:nvPr/>
        </p:nvSpPr>
        <p:spPr>
          <a:xfrm>
            <a:off x="548640" y="438912"/>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8</a:t>
            </a:r>
            <a:endParaRPr lang="en-US" sz="2200" dirty="0"/>
          </a:p>
        </p:txBody>
      </p:sp>
      <p:sp>
        <p:nvSpPr>
          <p:cNvPr id="5" name="Speaker"/>
          <p:cNvSpPr txBox="1"/>
          <p:nvPr/>
        </p:nvSpPr>
        <p:spPr>
          <a:xfrm>
            <a:off x="8412480" y="6446520"/>
            <a:ext cx="2651760" cy="274320"/>
          </a:xfrm>
          <a:prstGeom prst="rect">
            <a:avLst/>
          </a:prstGeom>
          <a:noFill/>
          <a:ln/>
        </p:spPr>
        <p:txBody>
          <a:bodyPr wrap="square" lIns="0" tIns="0" rIns="0" bIns="0" rtlCol="0" anchor="ctr"/>
          <a:lstStyle/>
          <a:p>
            <a:pPr algn="r" indent="0" marL="0">
              <a:buNone/>
            </a:pPr>
            <a:r>
              <a:rPr lang="en-US" sz="1000" dirty="0">
                <a:solidFill>
                  <a:schemeClr val="accent5"/>
                </a:solidFill>
              </a:rPr>
              <a:t>Speaker: Ira Chloie Narisma</a:t>
            </a:r>
            <a:endParaRPr lang="en-US" sz="1000" dirty="0"/>
          </a:p>
        </p:txBody>
      </p:sp>
      <p:sp>
        <p:nvSpPr>
          <p:cNvPr id="6" name="References card"/>
          <p:cNvSpPr/>
          <p:nvPr/>
        </p:nvSpPr>
        <p:spPr>
          <a:xfrm>
            <a:off x="548640" y="1280160"/>
            <a:ext cx="5410048" cy="5074920"/>
          </a:xfrm>
          <a:prstGeom prst="roundRect">
            <a:avLst>
              <a:gd name="adj" fmla="val 1441"/>
            </a:avLst>
          </a:prstGeom>
          <a:solidFill>
            <a:schemeClr val="bg2"/>
          </a:solidFill>
          <a:ln w="12700">
            <a:solidFill>
              <a:schemeClr val="bg2"/>
            </a:solidFill>
            <a:prstDash val="solid"/>
          </a:ln>
        </p:spPr>
      </p:sp>
      <p:sp>
        <p:nvSpPr>
          <p:cNvPr id="7" name="Card heading: Algorithm and theory"/>
          <p:cNvSpPr txBox="1"/>
          <p:nvPr/>
        </p:nvSpPr>
        <p:spPr>
          <a:xfrm>
            <a:off x="777240" y="1389888"/>
            <a:ext cx="4952848" cy="329184"/>
          </a:xfrm>
          <a:prstGeom prst="rect">
            <a:avLst/>
          </a:prstGeom>
          <a:noFill/>
          <a:ln/>
        </p:spPr>
        <p:txBody>
          <a:bodyPr wrap="square" lIns="0" tIns="0" rIns="0" bIns="0" rtlCol="0" anchor="ctr"/>
          <a:lstStyle/>
          <a:p>
            <a:pPr indent="0" marL="0">
              <a:buNone/>
            </a:pPr>
            <a:r>
              <a:rPr lang="en-US" sz="1600" b="1" dirty="0">
                <a:solidFill>
                  <a:schemeClr val="accent1"/>
                </a:solidFill>
              </a:rPr>
              <a:t>Algorithm and theory</a:t>
            </a:r>
            <a:endParaRPr lang="en-US" sz="1600" dirty="0"/>
          </a:p>
        </p:txBody>
      </p:sp>
      <p:sp>
        <p:nvSpPr>
          <p:cNvPr id="8" name="References: Algorithm and theory"/>
          <p:cNvSpPr txBox="1"/>
          <p:nvPr/>
        </p:nvSpPr>
        <p:spPr>
          <a:xfrm>
            <a:off x="777240" y="1783080"/>
            <a:ext cx="4952848" cy="4434840"/>
          </a:xfrm>
          <a:prstGeom prst="rect">
            <a:avLst/>
          </a:prstGeom>
          <a:noFill/>
          <a:ln/>
        </p:spPr>
        <p:txBody>
          <a:bodyPr wrap="square" lIns="0" tIns="0" rIns="0" bIns="0" rtlCol="0" anchor="t"/>
          <a:lstStyle/>
          <a:p>
            <a:pPr indent="0" marL="0">
              <a:spcAft>
                <a:spcPts val="700"/>
              </a:spcAft>
              <a:buNone/>
            </a:pPr>
            <a:r>
              <a:rPr lang="en-US" sz="1200" dirty="0">
                <a:solidFill>
                  <a:schemeClr val="tx1"/>
                </a:solidFill>
              </a:rPr>
              <a:t>[1] R. Luna-Garcia, T. M. C. Candano, R. L. Caga-anan, "Performance analysis of classical algorithms for the traveling salesman problem," The Mindanawan Journal of Mathematics, 6(2), 79–111, 2024. doi:10.62071/tmjm.v6i2.716. Algorithm 2.5, Theorem 2.5; our code adapts its Appendix 4.5.</a:t>
            </a:r>
            <a:endParaRPr lang="en-US" sz="1200" dirty="0"/>
          </a:p>
          <a:p>
            <a:pPr indent="0" marL="0">
              <a:spcAft>
                <a:spcPts val="700"/>
              </a:spcAft>
              <a:buNone/>
            </a:pPr>
            <a:r>
              <a:rPr lang="en-US" sz="1200" dirty="0">
                <a:solidFill>
                  <a:schemeClr val="tx1"/>
                </a:solidFill>
              </a:rPr>
              <a:t>[2] N. Metropolis et al., "Equation of state calculations by fast computing machines," J. Chem. Phys., 21(6), 1087–1092, 1953.</a:t>
            </a:r>
            <a:endParaRPr lang="en-US" sz="1200" dirty="0"/>
          </a:p>
          <a:p>
            <a:pPr indent="0" marL="0">
              <a:spcAft>
                <a:spcPts val="700"/>
              </a:spcAft>
              <a:buNone/>
            </a:pPr>
            <a:r>
              <a:rPr lang="en-US" sz="1200" dirty="0">
                <a:solidFill>
                  <a:schemeClr val="tx1"/>
                </a:solidFill>
              </a:rPr>
              <a:t>[3] S. Kirkpatrick, C. D. Gelatt, M. P. Vecchi, "Optimization by simulated annealing," Science, 220(4598), 671–680, 1983.</a:t>
            </a:r>
            <a:endParaRPr lang="en-US" sz="1200" dirty="0"/>
          </a:p>
          <a:p>
            <a:pPr indent="0" marL="0">
              <a:spcAft>
                <a:spcPts val="700"/>
              </a:spcAft>
              <a:buNone/>
            </a:pPr>
            <a:r>
              <a:rPr lang="en-US" sz="1200" dirty="0">
                <a:solidFill>
                  <a:schemeClr val="tx1"/>
                </a:solidFill>
              </a:rPr>
              <a:t>[4] V. Černý, "Thermodynamical approach to the traveling salesman problem," J. Optim. Theory Appl., 45(1), 41–51, 1985.</a:t>
            </a:r>
            <a:endParaRPr lang="en-US" sz="1200" dirty="0"/>
          </a:p>
          <a:p>
            <a:pPr indent="0" marL="0">
              <a:spcAft>
                <a:spcPts val="700"/>
              </a:spcAft>
              <a:buNone/>
            </a:pPr>
            <a:r>
              <a:rPr lang="en-US" sz="1200" dirty="0">
                <a:solidFill>
                  <a:schemeClr val="tx1"/>
                </a:solidFill>
              </a:rPr>
              <a:t>[5] B. Hajek, "Cooling schedules for optimal annealing," Math. Oper. Res., 13(2), 311–329, 1988.</a:t>
            </a:r>
            <a:endParaRPr lang="en-US" sz="1200" dirty="0"/>
          </a:p>
        </p:txBody>
      </p:sp>
      <p:sp>
        <p:nvSpPr>
          <p:cNvPr id="9" name="References card"/>
          <p:cNvSpPr/>
          <p:nvPr/>
        </p:nvSpPr>
        <p:spPr>
          <a:xfrm>
            <a:off x="6233008" y="1280160"/>
            <a:ext cx="5410048" cy="5074920"/>
          </a:xfrm>
          <a:prstGeom prst="roundRect">
            <a:avLst>
              <a:gd name="adj" fmla="val 1441"/>
            </a:avLst>
          </a:prstGeom>
          <a:solidFill>
            <a:schemeClr val="bg2"/>
          </a:solidFill>
          <a:ln w="12700">
            <a:solidFill>
              <a:schemeClr val="bg2"/>
            </a:solidFill>
            <a:prstDash val="solid"/>
          </a:ln>
        </p:spPr>
      </p:sp>
      <p:sp>
        <p:nvSpPr>
          <p:cNvPr id="10" name="Card heading: Data and software"/>
          <p:cNvSpPr txBox="1"/>
          <p:nvPr/>
        </p:nvSpPr>
        <p:spPr>
          <a:xfrm>
            <a:off x="6461608" y="1389888"/>
            <a:ext cx="4952848" cy="329184"/>
          </a:xfrm>
          <a:prstGeom prst="rect">
            <a:avLst/>
          </a:prstGeom>
          <a:noFill/>
          <a:ln/>
        </p:spPr>
        <p:txBody>
          <a:bodyPr wrap="square" lIns="0" tIns="0" rIns="0" bIns="0" rtlCol="0" anchor="ctr"/>
          <a:lstStyle/>
          <a:p>
            <a:pPr indent="0" marL="0">
              <a:buNone/>
            </a:pPr>
            <a:r>
              <a:rPr lang="en-US" sz="1600" b="1" dirty="0">
                <a:solidFill>
                  <a:schemeClr val="accent1"/>
                </a:solidFill>
              </a:rPr>
              <a:t>Data and software</a:t>
            </a:r>
            <a:endParaRPr lang="en-US" sz="1600" dirty="0"/>
          </a:p>
        </p:txBody>
      </p:sp>
      <p:sp>
        <p:nvSpPr>
          <p:cNvPr id="11" name="References: Data and software"/>
          <p:cNvSpPr txBox="1"/>
          <p:nvPr/>
        </p:nvSpPr>
        <p:spPr>
          <a:xfrm>
            <a:off x="6461608" y="1783080"/>
            <a:ext cx="4952848" cy="4434840"/>
          </a:xfrm>
          <a:prstGeom prst="rect">
            <a:avLst/>
          </a:prstGeom>
          <a:noFill/>
          <a:ln/>
        </p:spPr>
        <p:txBody>
          <a:bodyPr wrap="square" lIns="0" tIns="0" rIns="0" bIns="0" rtlCol="0" anchor="t"/>
          <a:lstStyle/>
          <a:p>
            <a:pPr indent="0" marL="0">
              <a:spcAft>
                <a:spcPts val="700"/>
              </a:spcAft>
              <a:buNone/>
            </a:pPr>
            <a:r>
              <a:rPr lang="en-US" sz="1200" dirty="0">
                <a:solidFill>
                  <a:schemeClr val="tx1"/>
                </a:solidFill>
              </a:rPr>
              <a:t>[6] OpenStreetMap contributors, OpenStreetMap road network data (ODbL). openstreetmap.org/copyright. Routing queried 2026-10-17.</a:t>
            </a:r>
            <a:endParaRPr lang="en-US" sz="1200" dirty="0"/>
          </a:p>
          <a:p>
            <a:pPr indent="0" marL="0">
              <a:spcAft>
                <a:spcPts val="700"/>
              </a:spcAft>
              <a:buNone/>
            </a:pPr>
            <a:r>
              <a:rPr lang="en-US" sz="1200" dirty="0">
                <a:solidFill>
                  <a:schemeClr val="tx1"/>
                </a:solidFill>
              </a:rPr>
              <a:t>[7] D. Luxen, C. Vetter, "Real-time routing with OpenStreetMap data," ACM SIGSPATIAL GIS '11, 513–516, 2011. OSRM demo server, car profile.</a:t>
            </a:r>
            <a:endParaRPr lang="en-US" sz="1200" dirty="0"/>
          </a:p>
          <a:p>
            <a:pPr indent="0" marL="0">
              <a:spcAft>
                <a:spcPts val="700"/>
              </a:spcAft>
              <a:buNone/>
            </a:pPr>
            <a:r>
              <a:rPr lang="en-US" sz="1200" dirty="0">
                <a:solidFill>
                  <a:schemeClr val="tx1"/>
                </a:solidFill>
              </a:rPr>
              <a:t>[8] Nominatim, OpenStreetMap geocoder. nominatim.org (location coordinates).</a:t>
            </a:r>
            <a:endParaRPr lang="en-US" sz="1200" dirty="0"/>
          </a:p>
          <a:p>
            <a:pPr indent="0" marL="0">
              <a:spcAft>
                <a:spcPts val="700"/>
              </a:spcAft>
              <a:buNone/>
            </a:pPr>
            <a:r>
              <a:rPr lang="en-US" sz="1200" dirty="0">
                <a:solidFill>
                  <a:schemeClr val="tx1"/>
                </a:solidFill>
              </a:rPr>
              <a:t>[9] A. A. Hagberg, D. A. Schult, P. J. Swart, "Exploring network structure, dynamics, and function using NetworkX," SciPy 2008.</a:t>
            </a:r>
            <a:endParaRPr lang="en-US" sz="1200" dirty="0"/>
          </a:p>
          <a:p>
            <a:pPr indent="0" marL="0">
              <a:spcAft>
                <a:spcPts val="700"/>
              </a:spcAft>
              <a:buNone/>
            </a:pPr>
            <a:r>
              <a:rPr lang="en-US" sz="1200" dirty="0">
                <a:solidFill>
                  <a:schemeClr val="tx1"/>
                </a:solidFill>
              </a:rPr>
              <a:t>[10] J. D. Hunter, "Matplotlib: A 2D graphics environment," Comput. Sci. Eng., 9(3), 2007.  [11] C. R. Harris et al., "Array programming with NumPy," Nature, 585, 2020.</a:t>
            </a:r>
            <a:endParaRPr lang="en-US" sz="1200" dirty="0"/>
          </a:p>
          <a:p>
            <a:pPr indent="0" marL="0">
              <a:spcAft>
                <a:spcPts val="700"/>
              </a:spcAft>
              <a:buNone/>
            </a:pPr>
            <a:r>
              <a:rPr lang="en-US" sz="1200" dirty="0">
                <a:solidFill>
                  <a:schemeClr val="tx1"/>
                </a:solidFill>
              </a:rPr>
              <a:t>[12] Folium and Pillow (Python libraries). Dataset and code: data/*.csv, main.py, demo.ipynb.</a:t>
            </a:r>
            <a:endParaRPr lang="en-US" sz="12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Blood Route">
  <a:themeElements>
    <a:clrScheme name="Blood Route">
      <a:dk1>
        <a:srgbClr val="1F2328"/>
      </a:dk1>
      <a:lt1>
        <a:srgbClr val="FFFFFF"/>
      </a:lt1>
      <a:dk2>
        <a:srgbClr val="2B0A12"/>
      </a:dk2>
      <a:lt2>
        <a:srgbClr val="F2F4F7"/>
      </a:lt2>
      <a:accent1>
        <a:srgbClr val="B5122B"/>
      </a:accent1>
      <a:accent2>
        <a:srgbClr val="2A78D6"/>
      </a:accent2>
      <a:accent3>
        <a:srgbClr val="EB6834"/>
      </a:accent3>
      <a:accent4>
        <a:srgbClr val="17855C"/>
      </a:accent4>
      <a:accent5>
        <a:srgbClr val="5F6670"/>
      </a:accent5>
      <a:accent6>
        <a:srgbClr val="F7DDE1"/>
      </a:accent6>
      <a:hlink>
        <a:srgbClr val="2A78D6"/>
      </a:hlink>
      <a:folHlink>
        <a:srgbClr val="6B4FA0"/>
      </a:folHlink>
    </a:clrScheme>
    <a:fontScheme name="Blood Rou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Simulated Annealing for a Real-Life TSP: Blood Deliveries in Cagayan de Oro City</dc:title>
  <dc:subject>PptxGenJS Presentation</dc:subject>
  <dc:creator>Del Mundo, Gerebise, Helbiro, Narisma</dc:creator>
  <cp:lastModifiedBy>Del Mundo, Gerebise, Helbiro, Narisma</cp:lastModifiedBy>
  <cp:revision>1</cp:revision>
  <dcterms:created xsi:type="dcterms:W3CDTF">2026-10-18T06:04:28Z</dcterms:created>
  <dcterms:modified xsi:type="dcterms:W3CDTF">2026-10-18T06:04:28Z</dcterms:modified>
</cp:coreProperties>
</file>